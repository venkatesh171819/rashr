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0cf93435-154a-d37c-5271-4038d5146a31}">
          <p14:sldIdLst>
            <p14:sldId id="256"/>
          </p14:sldIdLst>
        </p14:section>
        <p14:section name="Problem" id="{f8723a0a-e337-7724-efb0-d9c4cc743dc0}">
          <p14:sldIdLst>
            <p14:sldId id="257"/>
            <p14:sldId id="258"/>
            <p14:sldId id="259"/>
            <p14:sldId id="260"/>
          </p14:sldIdLst>
        </p14:section>
        <p14:section name="Related work" id="{ebb290b1-50e7-9aaa-2972-640c3213ad16}">
          <p14:sldIdLst>
            <p14:sldId id="261"/>
            <p14:sldId id="262"/>
          </p14:sldIdLst>
        </p14:section>
        <p14:section name="RAShR" id="{8c7e6517-e398-289b-09e2-92a14e1a3a8e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Theory" id="{445e4b82-5fe5-91f6-5641-175d4d9e9f00}">
          <p14:sldIdLst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Evidence" id="{27e77491-aff9-bf6e-62d5-3a538512a68e}">
          <p14:sldIdLst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1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213A"/>
                </a:solidFill>
                <a:latin typeface="+mn-lt"/>
              </a:rPr>
              <a:t>(a) compact leverage cluster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RAShR</c:v>
                </c:pt>
              </c:strCache>
            </c:strRef>
          </c:tx>
          <c:spPr>
            <a:solidFill>
              <a:srgbClr val="1F6FEB"/>
            </a:solidFill>
            <a:ln w="31750" cap="flat">
              <a:solidFill>
                <a:srgbClr val="1F6F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F6FEB"/>
              </a:solidFill>
              <a:ln w="9525" cap="flat">
                <a:solidFill>
                  <a:srgbClr val="1F6F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20%</c:v>
                  </c:pt>
                  <c:pt idx="1">
                    <c:v>25%</c:v>
                  </c:pt>
                  <c:pt idx="2">
                    <c:v>30%</c:v>
                  </c:pt>
                  <c:pt idx="3">
                    <c:v>35%</c:v>
                  </c:pt>
                  <c:pt idx="4">
                    <c:v>36%</c:v>
                  </c:pt>
                  <c:pt idx="5">
                    <c:v>38%</c:v>
                  </c:pt>
                  <c:pt idx="6">
                    <c:v>40%</c:v>
                  </c:pt>
                  <c:pt idx="7">
                    <c:v>42%</c:v>
                  </c:pt>
                  <c:pt idx="8">
                    <c:v>44%</c:v>
                  </c:pt>
                  <c:pt idx="9">
                    <c:v>46%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0.06666666666666667</c:v>
                </c:pt>
                <c:pt idx="8">
                  <c:v>0.7333333333333333</c:v>
                </c:pt>
                <c:pt idx="9">
                  <c:v>0.9833333333333333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LMS</c:v>
                </c:pt>
              </c:strCache>
            </c:strRef>
          </c:tx>
          <c:spPr>
            <a:solidFill>
              <a:srgbClr val="E4572E"/>
            </a:solidFill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20%</c:v>
                  </c:pt>
                  <c:pt idx="1">
                    <c:v>25%</c:v>
                  </c:pt>
                  <c:pt idx="2">
                    <c:v>30%</c:v>
                  </c:pt>
                  <c:pt idx="3">
                    <c:v>35%</c:v>
                  </c:pt>
                  <c:pt idx="4">
                    <c:v>36%</c:v>
                  </c:pt>
                  <c:pt idx="5">
                    <c:v>38%</c:v>
                  </c:pt>
                  <c:pt idx="6">
                    <c:v>40%</c:v>
                  </c:pt>
                  <c:pt idx="7">
                    <c:v>42%</c:v>
                  </c:pt>
                  <c:pt idx="8">
                    <c:v>44%</c:v>
                  </c:pt>
                  <c:pt idx="9">
                    <c:v>46%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0.03333333333333333</c:v>
                </c:pt>
                <c:pt idx="4">
                  <c:v>0</c:v>
                </c:pt>
                <c:pt idx="5">
                  <c:v>0.18333333333333332</c:v>
                </c:pt>
                <c:pt idx="6">
                  <c:v>0.6666666666666666</c:v>
                </c:pt>
                <c:pt idx="7">
                  <c:v>0.95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LTS</c:v>
                </c:pt>
              </c:strCache>
            </c:strRef>
          </c:tx>
          <c:spPr>
            <a:solidFill>
              <a:srgbClr val="17A398"/>
            </a:solidFill>
            <a:ln w="31750" cap="flat">
              <a:solidFill>
                <a:srgbClr val="17A3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7A398"/>
              </a:solidFill>
              <a:ln w="9525" cap="flat">
                <a:solidFill>
                  <a:srgbClr val="17A3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20%</c:v>
                  </c:pt>
                  <c:pt idx="1">
                    <c:v>25%</c:v>
                  </c:pt>
                  <c:pt idx="2">
                    <c:v>30%</c:v>
                  </c:pt>
                  <c:pt idx="3">
                    <c:v>35%</c:v>
                  </c:pt>
                  <c:pt idx="4">
                    <c:v>36%</c:v>
                  </c:pt>
                  <c:pt idx="5">
                    <c:v>38%</c:v>
                  </c:pt>
                  <c:pt idx="6">
                    <c:v>40%</c:v>
                  </c:pt>
                  <c:pt idx="7">
                    <c:v>42%</c:v>
                  </c:pt>
                  <c:pt idx="8">
                    <c:v>44%</c:v>
                  </c:pt>
                  <c:pt idx="9">
                    <c:v>46%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0.3</c:v>
                </c:pt>
                <c:pt idx="4">
                  <c:v>0.2833333333333333</c:v>
                </c:pt>
                <c:pt idx="5">
                  <c:v>0.7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MM</c:v>
                </c:pt>
              </c:strCache>
            </c:strRef>
          </c:tx>
          <c:spPr>
            <a:solidFill>
              <a:srgbClr val="F2A541"/>
            </a:solidFill>
            <a:ln w="3175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20%</c:v>
                  </c:pt>
                  <c:pt idx="1">
                    <c:v>25%</c:v>
                  </c:pt>
                  <c:pt idx="2">
                    <c:v>30%</c:v>
                  </c:pt>
                  <c:pt idx="3">
                    <c:v>35%</c:v>
                  </c:pt>
                  <c:pt idx="4">
                    <c:v>36%</c:v>
                  </c:pt>
                  <c:pt idx="5">
                    <c:v>38%</c:v>
                  </c:pt>
                  <c:pt idx="6">
                    <c:v>40%</c:v>
                  </c:pt>
                  <c:pt idx="7">
                    <c:v>42%</c:v>
                  </c:pt>
                  <c:pt idx="8">
                    <c:v>44%</c:v>
                  </c:pt>
                  <c:pt idx="9">
                    <c:v>46%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0.3</c:v>
                </c:pt>
                <c:pt idx="4">
                  <c:v>0.2833333333333333</c:v>
                </c:pt>
                <c:pt idx="5">
                  <c:v>0.7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RANSAC</c:v>
                </c:pt>
              </c:strCache>
            </c:strRef>
          </c:tx>
          <c:spPr>
            <a:solidFill>
              <a:srgbClr val="7B4FB5"/>
            </a:solidFill>
            <a:ln w="31750" cap="flat">
              <a:solidFill>
                <a:srgbClr val="7B4F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7B4FB5"/>
              </a:solidFill>
              <a:ln w="9525" cap="flat">
                <a:solidFill>
                  <a:srgbClr val="7B4F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20%</c:v>
                  </c:pt>
                  <c:pt idx="1">
                    <c:v>25%</c:v>
                  </c:pt>
                  <c:pt idx="2">
                    <c:v>30%</c:v>
                  </c:pt>
                  <c:pt idx="3">
                    <c:v>35%</c:v>
                  </c:pt>
                  <c:pt idx="4">
                    <c:v>36%</c:v>
                  </c:pt>
                  <c:pt idx="5">
                    <c:v>38%</c:v>
                  </c:pt>
                  <c:pt idx="6">
                    <c:v>40%</c:v>
                  </c:pt>
                  <c:pt idx="7">
                    <c:v>42%</c:v>
                  </c:pt>
                  <c:pt idx="8">
                    <c:v>44%</c:v>
                  </c:pt>
                  <c:pt idx="9">
                    <c:v>46%</c:v>
                  </c:pt>
                </c:lvl>
              </c:multiLvlStrCache>
            </c:multiLvl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0.65</c:v>
                </c:pt>
                <c:pt idx="3">
                  <c:v>0.7</c:v>
                </c:pt>
                <c:pt idx="4">
                  <c:v>0.75</c:v>
                </c:pt>
                <c:pt idx="5">
                  <c:v>0.9333333333333333</c:v>
                </c:pt>
                <c:pt idx="6">
                  <c:v>0.9666666666666667</c:v>
                </c:pt>
                <c:pt idx="7">
                  <c:v>1</c:v>
                </c:pt>
                <c:pt idx="8">
                  <c:v>0.9833333333333333</c:v>
                </c:pt>
                <c:pt idx="9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021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1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213A"/>
                </a:solidFill>
                <a:latin typeface="+mn-lt"/>
              </a:rPr>
              <a:t>(b) competing line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RAShR</c:v>
                </c:pt>
              </c:strCache>
            </c:strRef>
          </c:tx>
          <c:spPr>
            <a:solidFill>
              <a:srgbClr val="1F6FEB"/>
            </a:solidFill>
            <a:ln w="31750" cap="flat">
              <a:solidFill>
                <a:srgbClr val="1F6F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F6FEB"/>
              </a:solidFill>
              <a:ln w="9525" cap="flat">
                <a:solidFill>
                  <a:srgbClr val="1F6F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20%</c:v>
                  </c:pt>
                  <c:pt idx="1">
                    <c:v>25%</c:v>
                  </c:pt>
                  <c:pt idx="2">
                    <c:v>30%</c:v>
                  </c:pt>
                  <c:pt idx="3">
                    <c:v>35%</c:v>
                  </c:pt>
                  <c:pt idx="4">
                    <c:v>36%</c:v>
                  </c:pt>
                  <c:pt idx="5">
                    <c:v>38%</c:v>
                  </c:pt>
                  <c:pt idx="6">
                    <c:v>40%</c:v>
                  </c:pt>
                  <c:pt idx="7">
                    <c:v>42%</c:v>
                  </c:pt>
                  <c:pt idx="8">
                    <c:v>44%</c:v>
                  </c:pt>
                  <c:pt idx="9">
                    <c:v>46%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LMS</c:v>
                </c:pt>
              </c:strCache>
            </c:strRef>
          </c:tx>
          <c:spPr>
            <a:solidFill>
              <a:srgbClr val="E4572E"/>
            </a:solidFill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20%</c:v>
                  </c:pt>
                  <c:pt idx="1">
                    <c:v>25%</c:v>
                  </c:pt>
                  <c:pt idx="2">
                    <c:v>30%</c:v>
                  </c:pt>
                  <c:pt idx="3">
                    <c:v>35%</c:v>
                  </c:pt>
                  <c:pt idx="4">
                    <c:v>36%</c:v>
                  </c:pt>
                  <c:pt idx="5">
                    <c:v>38%</c:v>
                  </c:pt>
                  <c:pt idx="6">
                    <c:v>40%</c:v>
                  </c:pt>
                  <c:pt idx="7">
                    <c:v>42%</c:v>
                  </c:pt>
                  <c:pt idx="8">
                    <c:v>44%</c:v>
                  </c:pt>
                  <c:pt idx="9">
                    <c:v>46%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0.016666666666666666</c:v>
                </c:pt>
                <c:pt idx="7">
                  <c:v>0.06666666666666667</c:v>
                </c:pt>
                <c:pt idx="8">
                  <c:v>0.38333333333333336</c:v>
                </c:pt>
                <c:pt idx="9">
                  <c:v>0.5833333333333334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LTS</c:v>
                </c:pt>
              </c:strCache>
            </c:strRef>
          </c:tx>
          <c:spPr>
            <a:solidFill>
              <a:srgbClr val="17A398"/>
            </a:solidFill>
            <a:ln w="31750" cap="flat">
              <a:solidFill>
                <a:srgbClr val="17A3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7A398"/>
              </a:solidFill>
              <a:ln w="9525" cap="flat">
                <a:solidFill>
                  <a:srgbClr val="17A3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20%</c:v>
                  </c:pt>
                  <c:pt idx="1">
                    <c:v>25%</c:v>
                  </c:pt>
                  <c:pt idx="2">
                    <c:v>30%</c:v>
                  </c:pt>
                  <c:pt idx="3">
                    <c:v>35%</c:v>
                  </c:pt>
                  <c:pt idx="4">
                    <c:v>36%</c:v>
                  </c:pt>
                  <c:pt idx="5">
                    <c:v>38%</c:v>
                  </c:pt>
                  <c:pt idx="6">
                    <c:v>40%</c:v>
                  </c:pt>
                  <c:pt idx="7">
                    <c:v>42%</c:v>
                  </c:pt>
                  <c:pt idx="8">
                    <c:v>44%</c:v>
                  </c:pt>
                  <c:pt idx="9">
                    <c:v>46%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0.16666666666666666</c:v>
                </c:pt>
                <c:pt idx="7">
                  <c:v>0.31666666666666665</c:v>
                </c:pt>
                <c:pt idx="8">
                  <c:v>0.6166666666666667</c:v>
                </c:pt>
                <c:pt idx="9">
                  <c:v>0.8666666666666667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MM</c:v>
                </c:pt>
              </c:strCache>
            </c:strRef>
          </c:tx>
          <c:spPr>
            <a:solidFill>
              <a:srgbClr val="F2A541"/>
            </a:solidFill>
            <a:ln w="3175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20%</c:v>
                  </c:pt>
                  <c:pt idx="1">
                    <c:v>25%</c:v>
                  </c:pt>
                  <c:pt idx="2">
                    <c:v>30%</c:v>
                  </c:pt>
                  <c:pt idx="3">
                    <c:v>35%</c:v>
                  </c:pt>
                  <c:pt idx="4">
                    <c:v>36%</c:v>
                  </c:pt>
                  <c:pt idx="5">
                    <c:v>38%</c:v>
                  </c:pt>
                  <c:pt idx="6">
                    <c:v>40%</c:v>
                  </c:pt>
                  <c:pt idx="7">
                    <c:v>42%</c:v>
                  </c:pt>
                  <c:pt idx="8">
                    <c:v>44%</c:v>
                  </c:pt>
                  <c:pt idx="9">
                    <c:v>46%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0.1</c:v>
                </c:pt>
                <c:pt idx="7">
                  <c:v>0.2833333333333333</c:v>
                </c:pt>
                <c:pt idx="8">
                  <c:v>0.5833333333333334</c:v>
                </c:pt>
                <c:pt idx="9">
                  <c:v>0.8333333333333334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RANSAC</c:v>
                </c:pt>
              </c:strCache>
            </c:strRef>
          </c:tx>
          <c:spPr>
            <a:solidFill>
              <a:srgbClr val="7B4FB5"/>
            </a:solidFill>
            <a:ln w="31750" cap="flat">
              <a:solidFill>
                <a:srgbClr val="7B4F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7B4FB5"/>
              </a:solidFill>
              <a:ln w="9525" cap="flat">
                <a:solidFill>
                  <a:srgbClr val="7B4F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20%</c:v>
                  </c:pt>
                  <c:pt idx="1">
                    <c:v>25%</c:v>
                  </c:pt>
                  <c:pt idx="2">
                    <c:v>30%</c:v>
                  </c:pt>
                  <c:pt idx="3">
                    <c:v>35%</c:v>
                  </c:pt>
                  <c:pt idx="4">
                    <c:v>36%</c:v>
                  </c:pt>
                  <c:pt idx="5">
                    <c:v>38%</c:v>
                  </c:pt>
                  <c:pt idx="6">
                    <c:v>40%</c:v>
                  </c:pt>
                  <c:pt idx="7">
                    <c:v>42%</c:v>
                  </c:pt>
                  <c:pt idx="8">
                    <c:v>44%</c:v>
                  </c:pt>
                  <c:pt idx="9">
                    <c:v>46%</c:v>
                  </c:pt>
                </c:lvl>
              </c:multiLvlStrCache>
            </c:multiLvl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0.05</c:v>
                </c:pt>
                <c:pt idx="8">
                  <c:v>0.13333333333333333</c:v>
                </c:pt>
                <c:pt idx="9">
                  <c:v>0.1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1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213A"/>
                </a:solidFill>
                <a:latin typeface="+mn-lt"/>
              </a:rPr>
              <a:t>(c) funnel majority + line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RAShR</c:v>
                </c:pt>
              </c:strCache>
            </c:strRef>
          </c:tx>
          <c:spPr>
            <a:solidFill>
              <a:srgbClr val="1F6FEB"/>
            </a:solidFill>
            <a:ln w="31750" cap="flat">
              <a:solidFill>
                <a:srgbClr val="1F6F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F6FEB"/>
              </a:solidFill>
              <a:ln w="9525" cap="flat">
                <a:solidFill>
                  <a:srgbClr val="1F6F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20%</c:v>
                  </c:pt>
                  <c:pt idx="1">
                    <c:v>25%</c:v>
                  </c:pt>
                  <c:pt idx="2">
                    <c:v>30%</c:v>
                  </c:pt>
                  <c:pt idx="3">
                    <c:v>35%</c:v>
                  </c:pt>
                  <c:pt idx="4">
                    <c:v>36%</c:v>
                  </c:pt>
                  <c:pt idx="5">
                    <c:v>38%</c:v>
                  </c:pt>
                  <c:pt idx="6">
                    <c:v>40%</c:v>
                  </c:pt>
                  <c:pt idx="7">
                    <c:v>42%</c:v>
                  </c:pt>
                  <c:pt idx="8">
                    <c:v>44%</c:v>
                  </c:pt>
                  <c:pt idx="9">
                    <c:v>46%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0.016666666666666666</c:v>
                </c:pt>
                <c:pt idx="7">
                  <c:v>0.016666666666666666</c:v>
                </c:pt>
                <c:pt idx="8">
                  <c:v>0.016666666666666666</c:v>
                </c:pt>
                <c:pt idx="9">
                  <c:v>0.08333333333333333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LMS</c:v>
                </c:pt>
              </c:strCache>
            </c:strRef>
          </c:tx>
          <c:spPr>
            <a:solidFill>
              <a:srgbClr val="E4572E"/>
            </a:solidFill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20%</c:v>
                  </c:pt>
                  <c:pt idx="1">
                    <c:v>25%</c:v>
                  </c:pt>
                  <c:pt idx="2">
                    <c:v>30%</c:v>
                  </c:pt>
                  <c:pt idx="3">
                    <c:v>35%</c:v>
                  </c:pt>
                  <c:pt idx="4">
                    <c:v>36%</c:v>
                  </c:pt>
                  <c:pt idx="5">
                    <c:v>38%</c:v>
                  </c:pt>
                  <c:pt idx="6">
                    <c:v>40%</c:v>
                  </c:pt>
                  <c:pt idx="7">
                    <c:v>42%</c:v>
                  </c:pt>
                  <c:pt idx="8">
                    <c:v>44%</c:v>
                  </c:pt>
                  <c:pt idx="9">
                    <c:v>46%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0.016666666666666666</c:v>
                </c:pt>
                <c:pt idx="2">
                  <c:v>0.05</c:v>
                </c:pt>
                <c:pt idx="3">
                  <c:v>0.03333333333333333</c:v>
                </c:pt>
                <c:pt idx="4">
                  <c:v>0.016666666666666666</c:v>
                </c:pt>
                <c:pt idx="5">
                  <c:v>0.11666666666666667</c:v>
                </c:pt>
                <c:pt idx="6">
                  <c:v>0.21666666666666667</c:v>
                </c:pt>
                <c:pt idx="7">
                  <c:v>0.4666666666666667</c:v>
                </c:pt>
                <c:pt idx="8">
                  <c:v>0.7833333333333333</c:v>
                </c:pt>
                <c:pt idx="9">
                  <c:v>0.9833333333333333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LTS</c:v>
                </c:pt>
              </c:strCache>
            </c:strRef>
          </c:tx>
          <c:spPr>
            <a:solidFill>
              <a:srgbClr val="17A398"/>
            </a:solidFill>
            <a:ln w="31750" cap="flat">
              <a:solidFill>
                <a:srgbClr val="17A3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7A398"/>
              </a:solidFill>
              <a:ln w="9525" cap="flat">
                <a:solidFill>
                  <a:srgbClr val="17A3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20%</c:v>
                  </c:pt>
                  <c:pt idx="1">
                    <c:v>25%</c:v>
                  </c:pt>
                  <c:pt idx="2">
                    <c:v>30%</c:v>
                  </c:pt>
                  <c:pt idx="3">
                    <c:v>35%</c:v>
                  </c:pt>
                  <c:pt idx="4">
                    <c:v>36%</c:v>
                  </c:pt>
                  <c:pt idx="5">
                    <c:v>38%</c:v>
                  </c:pt>
                  <c:pt idx="6">
                    <c:v>40%</c:v>
                  </c:pt>
                  <c:pt idx="7">
                    <c:v>42%</c:v>
                  </c:pt>
                  <c:pt idx="8">
                    <c:v>44%</c:v>
                  </c:pt>
                  <c:pt idx="9">
                    <c:v>46%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0.016666666666666666</c:v>
                </c:pt>
                <c:pt idx="2">
                  <c:v>0.05</c:v>
                </c:pt>
                <c:pt idx="3">
                  <c:v>0.08333333333333333</c:v>
                </c:pt>
                <c:pt idx="4">
                  <c:v>0.13333333333333333</c:v>
                </c:pt>
                <c:pt idx="5">
                  <c:v>0.35</c:v>
                </c:pt>
                <c:pt idx="6">
                  <c:v>0.5833333333333334</c:v>
                </c:pt>
                <c:pt idx="7">
                  <c:v>0.8666666666666667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MM</c:v>
                </c:pt>
              </c:strCache>
            </c:strRef>
          </c:tx>
          <c:spPr>
            <a:solidFill>
              <a:srgbClr val="F2A541"/>
            </a:solidFill>
            <a:ln w="3175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20%</c:v>
                  </c:pt>
                  <c:pt idx="1">
                    <c:v>25%</c:v>
                  </c:pt>
                  <c:pt idx="2">
                    <c:v>30%</c:v>
                  </c:pt>
                  <c:pt idx="3">
                    <c:v>35%</c:v>
                  </c:pt>
                  <c:pt idx="4">
                    <c:v>36%</c:v>
                  </c:pt>
                  <c:pt idx="5">
                    <c:v>38%</c:v>
                  </c:pt>
                  <c:pt idx="6">
                    <c:v>40%</c:v>
                  </c:pt>
                  <c:pt idx="7">
                    <c:v>42%</c:v>
                  </c:pt>
                  <c:pt idx="8">
                    <c:v>44%</c:v>
                  </c:pt>
                  <c:pt idx="9">
                    <c:v>46%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0.016666666666666666</c:v>
                </c:pt>
                <c:pt idx="3">
                  <c:v>0.05</c:v>
                </c:pt>
                <c:pt idx="4">
                  <c:v>0.16666666666666666</c:v>
                </c:pt>
                <c:pt idx="5">
                  <c:v>0.31666666666666665</c:v>
                </c:pt>
                <c:pt idx="6">
                  <c:v>0.5333333333333333</c:v>
                </c:pt>
                <c:pt idx="7">
                  <c:v>0.8</c:v>
                </c:pt>
                <c:pt idx="8">
                  <c:v>0.9666666666666667</c:v>
                </c:pt>
                <c:pt idx="9">
                  <c:v>1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RANSAC</c:v>
                </c:pt>
              </c:strCache>
            </c:strRef>
          </c:tx>
          <c:spPr>
            <a:solidFill>
              <a:srgbClr val="7B4FB5"/>
            </a:solidFill>
            <a:ln w="31750" cap="flat">
              <a:solidFill>
                <a:srgbClr val="7B4F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7B4FB5"/>
              </a:solidFill>
              <a:ln w="9525" cap="flat">
                <a:solidFill>
                  <a:srgbClr val="7B4F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20%</c:v>
                  </c:pt>
                  <c:pt idx="1">
                    <c:v>25%</c:v>
                  </c:pt>
                  <c:pt idx="2">
                    <c:v>30%</c:v>
                  </c:pt>
                  <c:pt idx="3">
                    <c:v>35%</c:v>
                  </c:pt>
                  <c:pt idx="4">
                    <c:v>36%</c:v>
                  </c:pt>
                  <c:pt idx="5">
                    <c:v>38%</c:v>
                  </c:pt>
                  <c:pt idx="6">
                    <c:v>40%</c:v>
                  </c:pt>
                  <c:pt idx="7">
                    <c:v>42%</c:v>
                  </c:pt>
                  <c:pt idx="8">
                    <c:v>44%</c:v>
                  </c:pt>
                  <c:pt idx="9">
                    <c:v>46%</c:v>
                  </c:pt>
                </c:lvl>
              </c:multiLvlStrCache>
            </c:multiLvl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0.016666666666666666</c:v>
                </c:pt>
                <c:pt idx="4">
                  <c:v>0.03333333333333333</c:v>
                </c:pt>
                <c:pt idx="5">
                  <c:v>0.016666666666666666</c:v>
                </c:pt>
                <c:pt idx="6">
                  <c:v>0.08333333333333333</c:v>
                </c:pt>
                <c:pt idx="7">
                  <c:v>0.1</c:v>
                </c:pt>
                <c:pt idx="8">
                  <c:v>0.21666666666666667</c:v>
                </c:pt>
                <c:pt idx="9">
                  <c:v>0.4666666666666667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The whole deck follows one story: coherent contamination fools residual-based fits; pairwise chord directions, concentrated twice with the shorth, do not get fooled — within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re-created from the paper's setting (seed 3). Paper values: OLS -0.53, LMS -0.20, MM -0.26, RAShR +2.02, truth +2.00.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W(l) is the smallest half-width of a vertical strip around l containing half of the mass. Proposition 3 formalises this for population LMS.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Cluster at cx=10,18,26,36 with majority fixed. In our run RAShR stays at the same slope; paper reports 2.058 on its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Native charts built from results/simulation_results.json (60 replications). Paper's own values are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ASHR_TITLE">
    <p:bg>
      <p:bgPr>
        <a:solidFill>
          <a:srgbClr val="10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ASHR_SECTION">
    <p:bg>
      <p:bgPr>
        <a:solidFill>
          <a:srgbClr val="1740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5760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ASH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RAShR · Repeated Angular Shorth Regression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97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6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 Angular Shorth Regression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404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line by asking which direction pairwise chords agree on, not which line has small residuals.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“Robust Linear Regression via the Repeated Angular Shorth” — V. Dharavath &amp; V. Srivastava, NIT Warangal</a:t>
            </a:r>
            <a:endParaRPr lang="en-US" sz="1400" dirty="0"/>
          </a:p>
        </p:txBody>
      </p:sp>
      <p:sp>
        <p:nvSpPr>
          <p:cNvPr id="6" name="motif-circle"/>
          <p:cNvSpPr/>
          <p:nvPr/>
        </p:nvSpPr>
        <p:spPr>
          <a:xfrm>
            <a:off x="7772400" y="1463040"/>
            <a:ext cx="3840480" cy="3840480"/>
          </a:xfrm>
          <a:prstGeom prst="ellipse">
            <a:avLst/>
          </a:prstGeom>
          <a:solidFill>
            <a:srgbClr val="10213A">
              <a:alpha val="0"/>
            </a:srgbClr>
          </a:solidFill>
          <a:ln w="25400">
            <a:solidFill>
              <a:srgbClr val="9FB7DE"/>
            </a:solidFill>
            <a:prstDash val="solid"/>
          </a:ln>
        </p:spPr>
      </p:sp>
      <p:sp>
        <p:nvSpPr>
          <p:cNvPr id="7" name="motif-dot0"/>
          <p:cNvSpPr/>
          <p:nvPr/>
        </p:nvSpPr>
        <p:spPr>
          <a:xfrm>
            <a:off x="11063045" y="2048390"/>
            <a:ext cx="201168" cy="201168"/>
          </a:xfrm>
          <a:prstGeom prst="ellipse">
            <a:avLst/>
          </a:prstGeom>
          <a:solidFill>
            <a:srgbClr val="3E7C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motif-dot1"/>
          <p:cNvSpPr/>
          <p:nvPr/>
        </p:nvSpPr>
        <p:spPr>
          <a:xfrm>
            <a:off x="10665841" y="1690745"/>
            <a:ext cx="201168" cy="201168"/>
          </a:xfrm>
          <a:prstGeom prst="ellipse">
            <a:avLst/>
          </a:prstGeom>
          <a:solidFill>
            <a:srgbClr val="3E7C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motif-dot2"/>
          <p:cNvSpPr/>
          <p:nvPr/>
        </p:nvSpPr>
        <p:spPr>
          <a:xfrm>
            <a:off x="10373088" y="1528469"/>
            <a:ext cx="201168" cy="201168"/>
          </a:xfrm>
          <a:prstGeom prst="ellipse">
            <a:avLst/>
          </a:prstGeom>
          <a:solidFill>
            <a:srgbClr val="3E7C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motif-dot3"/>
          <p:cNvSpPr/>
          <p:nvPr/>
        </p:nvSpPr>
        <p:spPr>
          <a:xfrm>
            <a:off x="10056604" y="1419495"/>
            <a:ext cx="201168" cy="201168"/>
          </a:xfrm>
          <a:prstGeom prst="ellipse">
            <a:avLst/>
          </a:prstGeom>
          <a:solidFill>
            <a:srgbClr val="3E7C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motif-dot4"/>
          <p:cNvSpPr/>
          <p:nvPr/>
        </p:nvSpPr>
        <p:spPr>
          <a:xfrm>
            <a:off x="9659071" y="1363626"/>
            <a:ext cx="201168" cy="201168"/>
          </a:xfrm>
          <a:prstGeom prst="ellipse">
            <a:avLst/>
          </a:prstGeom>
          <a:solidFill>
            <a:srgbClr val="3E7C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motif-dot5"/>
          <p:cNvSpPr/>
          <p:nvPr/>
        </p:nvSpPr>
        <p:spPr>
          <a:xfrm>
            <a:off x="10552176" y="4945673"/>
            <a:ext cx="201168" cy="20116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0" y="2971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E0FA"/>
                </a:solidFill>
              </a:rPr>
              <a:t>angles on the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FE0FA"/>
                </a:solidFill>
              </a:rPr>
              <a:t>projective circle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robust fit can still follow the wrong line</a:t>
            </a:r>
            <a:endParaRPr lang="en-US" sz="3000" dirty="0"/>
          </a:p>
        </p:txBody>
      </p:sp>
      <p:pic>
        <p:nvPicPr>
          <p:cNvPr id="4" name="fig1_motivation" descr="Scatter: 62 majority points on y=1+2x, 38 compact leverage cluster, OLS/LMS/MM negative slopes, RAShR posit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93770"/>
            <a:ext cx="7223760" cy="46362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138160" y="1371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+2.02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8138160" y="2194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</a:rPr>
              <a:t>RAShR slope (paper)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9966960" y="1371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−0.20</a:t>
            </a:r>
            <a:endParaRPr lang="en-US" sz="4400" dirty="0"/>
          </a:p>
        </p:txBody>
      </p:sp>
      <p:sp>
        <p:nvSpPr>
          <p:cNvPr id="8" name="Text 4"/>
          <p:cNvSpPr txBox="1"/>
          <p:nvPr/>
        </p:nvSpPr>
        <p:spPr>
          <a:xfrm>
            <a:off x="9966960" y="2194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</a:rPr>
              <a:t>LMS slope (paper)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138160" y="2834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−0.26</a:t>
            </a:r>
            <a:endParaRPr lang="en-US" sz="4400" dirty="0"/>
          </a:p>
        </p:txBody>
      </p:sp>
      <p:sp>
        <p:nvSpPr>
          <p:cNvPr id="10" name="Text 6"/>
          <p:cNvSpPr txBox="1"/>
          <p:nvPr/>
        </p:nvSpPr>
        <p:spPr>
          <a:xfrm>
            <a:off x="8138160" y="3657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</a:rPr>
              <a:t>MM slope (paper)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966960" y="2834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−0.53</a:t>
            </a:r>
            <a:endParaRPr lang="en-US" sz="4400" dirty="0"/>
          </a:p>
        </p:txBody>
      </p:sp>
      <p:sp>
        <p:nvSpPr>
          <p:cNvPr id="12" name="Text 8"/>
          <p:cNvSpPr txBox="1"/>
          <p:nvPr/>
        </p:nvSpPr>
        <p:spPr>
          <a:xfrm>
            <a:off x="9966960" y="3657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</a:rPr>
              <a:t>OLS slope (paper)</a:t>
            </a:r>
            <a:endParaRPr lang="en-US" sz="1400" dirty="0"/>
          </a:p>
        </p:txBody>
      </p:sp>
      <p:sp>
        <p:nvSpPr>
          <p:cNvPr id="13" name="card-Why surprising?"/>
          <p:cNvSpPr/>
          <p:nvPr/>
        </p:nvSpPr>
        <p:spPr>
          <a:xfrm>
            <a:off x="8138160" y="434340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8F0"/>
          </a:solidFill>
          <a:ln w="9525">
            <a:solidFill>
              <a:srgbClr val="F28F3B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8321040" y="4453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surprising?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8321040" y="48463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breakdown means the estimate stays bounded — not that it follows the dominant structure.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0350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</a:rPr>
              <a:t>Our re-creation; paper's exact sample not available.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Vocabulary, built up step by step</a:t>
            </a:r>
            <a:endParaRPr lang="en-US" sz="3000" dirty="0"/>
          </a:p>
        </p:txBody>
      </p:sp>
      <p:sp>
        <p:nvSpPr>
          <p:cNvPr id="3" name="card-Outlier vs contamination"/>
          <p:cNvSpPr/>
          <p:nvPr/>
        </p:nvSpPr>
        <p:spPr>
          <a:xfrm>
            <a:off x="548640" y="137160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vs contamination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Outlier: one unusual point. Contamination: observations not following the main pattern — possibly many.</a:t>
            </a:r>
            <a:endParaRPr lang="en-US" sz="1500" dirty="0"/>
          </a:p>
        </p:txBody>
      </p:sp>
      <p:sp>
        <p:nvSpPr>
          <p:cNvPr id="6" name="card-Coherent contamination"/>
          <p:cNvSpPr/>
          <p:nvPr/>
        </p:nvSpPr>
        <p:spPr>
          <a:xfrm>
            <a:off x="4297680" y="137160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48056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contamination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8745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Contaminated points related to each other: a compact cluster or a competing line.</a:t>
            </a:r>
            <a:endParaRPr lang="en-US" sz="1500" dirty="0"/>
          </a:p>
        </p:txBody>
      </p:sp>
      <p:sp>
        <p:nvSpPr>
          <p:cNvPr id="9" name="card-High leverage"/>
          <p:cNvSpPr/>
          <p:nvPr/>
        </p:nvSpPr>
        <p:spPr>
          <a:xfrm>
            <a:off x="8046720" y="137160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leverage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8745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far from the bulk of the x-values → strong pull on the slope.</a:t>
            </a:r>
            <a:endParaRPr lang="en-US" sz="1500" dirty="0"/>
          </a:p>
        </p:txBody>
      </p:sp>
      <p:sp>
        <p:nvSpPr>
          <p:cNvPr id="12" name="card-Breakdown point"/>
          <p:cNvSpPr/>
          <p:nvPr/>
        </p:nvSpPr>
        <p:spPr>
          <a:xfrm>
            <a:off x="548640" y="379476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39044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point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2976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that can be replaced before the estimate can be driven arbitrarily far: a boundedness guarantee.</a:t>
            </a:r>
            <a:endParaRPr lang="en-US" sz="1500" dirty="0"/>
          </a:p>
        </p:txBody>
      </p:sp>
      <p:sp>
        <p:nvSpPr>
          <p:cNvPr id="15" name="card-Residual-based method"/>
          <p:cNvSpPr/>
          <p:nvPr/>
        </p:nvSpPr>
        <p:spPr>
          <a:xfrm>
            <a:off x="4297680" y="379476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480560" y="39044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Residual-based method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42976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candidate lines by residuals y</a:t>
            </a:r>
            <a:pPr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ŷ</a:t>
            </a:r>
            <a:pPr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LMS, LTS, MM…</a:t>
            </a:r>
            <a:endParaRPr lang="en-US" sz="1500" dirty="0"/>
          </a:p>
        </p:txBody>
      </p:sp>
      <p:sp>
        <p:nvSpPr>
          <p:cNvPr id="18" name="card-Chord"/>
          <p:cNvSpPr/>
          <p:nvPr/>
        </p:nvSpPr>
        <p:spPr>
          <a:xfrm>
            <a:off x="8046720" y="379476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0" y="39044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2976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segment joining two points. It has a direction; it is not a regression line.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residuals mislead: a narrow strip through the cluster</a:t>
            </a:r>
            <a:endParaRPr lang="en-US" sz="3000" dirty="0"/>
          </a:p>
        </p:txBody>
      </p:sp>
      <p:pic>
        <p:nvPicPr>
          <p:cNvPr id="4" name="fig10_lms_attraction" descr="LMS strips around the true line and around a line through the clu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76317"/>
            <a:ext cx="6949440" cy="4362567"/>
          </a:xfrm>
          <a:prstGeom prst="rect">
            <a:avLst/>
          </a:prstGeom>
        </p:spPr>
      </p:pic>
      <p:sp>
        <p:nvSpPr>
          <p:cNvPr id="5" name="eq-bg-strip"/>
          <p:cNvSpPr/>
          <p:nvPr/>
        </p:nvSpPr>
        <p:spPr>
          <a:xfrm>
            <a:off x="7772400" y="1371600"/>
            <a:ext cx="388620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pic>
        <p:nvPicPr>
          <p:cNvPr id="6" name="eq-strip" descr="formula stri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617425"/>
            <a:ext cx="3611880" cy="331309"/>
          </a:xfrm>
          <a:prstGeom prst="rect">
            <a:avLst/>
          </a:prstGeom>
        </p:spPr>
      </p:pic>
      <p:sp>
        <p:nvSpPr>
          <p:cNvPr id="7" name="card-Reading the picture"/>
          <p:cNvSpPr/>
          <p:nvPr/>
        </p:nvSpPr>
        <p:spPr>
          <a:xfrm>
            <a:off x="7772400" y="2468880"/>
            <a:ext cx="388620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8" name="Text 3"/>
          <p:cNvSpPr txBox="1"/>
          <p:nvPr/>
        </p:nvSpPr>
        <p:spPr>
          <a:xfrm>
            <a:off x="7955280" y="25786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picture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7955280" y="2971800"/>
            <a:ext cx="35204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true line needs positive width because of noise.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line through a point-mass cluster only needs a little extra mass from the majority.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 contamination → ½, that width → 0.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Proved for population LMS only; LTS/MM are studied empirically.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central shift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57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asking </a:t>
            </a:r>
            <a:pPr indent="0" marL="0">
              <a:buNone/>
            </a:pPr>
            <a:r>
              <a:rPr lang="en-US" sz="2400" b="1" dirty="0">
                <a:solidFill>
                  <a:srgbClr val="F28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line produces small residuals?”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RAShR asks 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direction receives the strongest agreement from pairwise chords?”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 as one story: pairwise slopes → pairwise directions</a:t>
            </a:r>
            <a:endParaRPr lang="en-US" sz="3000" dirty="0"/>
          </a:p>
        </p:txBody>
      </p:sp>
      <p:sp>
        <p:nvSpPr>
          <p:cNvPr id="3" name="card-Theil–Sen"/>
          <p:cNvSpPr/>
          <p:nvPr/>
        </p:nvSpPr>
        <p:spPr>
          <a:xfrm>
            <a:off x="548640" y="1371600"/>
            <a:ext cx="2651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Theil–Sen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of all pairwise slopes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≈ 29%</a:t>
            </a:r>
            <a:endParaRPr lang="en-US" sz="1400" dirty="0"/>
          </a:p>
        </p:txBody>
      </p:sp>
      <p:sp>
        <p:nvSpPr>
          <p:cNvPr id="6" name="card-Repeated median"/>
          <p:cNvSpPr/>
          <p:nvPr/>
        </p:nvSpPr>
        <p:spPr>
          <a:xfrm>
            <a:off x="3337560" y="1371600"/>
            <a:ext cx="2651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20440" y="1481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median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87452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of per-anchor medians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breakdown; rank effect</a:t>
            </a:r>
            <a:endParaRPr lang="en-US" sz="1400" dirty="0"/>
          </a:p>
        </p:txBody>
      </p:sp>
      <p:sp>
        <p:nvSpPr>
          <p:cNvPr id="9" name="card-LMS / LTS"/>
          <p:cNvSpPr/>
          <p:nvPr/>
        </p:nvSpPr>
        <p:spPr>
          <a:xfrm>
            <a:off x="6126480" y="1371600"/>
            <a:ext cx="2651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09360" y="1481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/ LTS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87452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strip / trimmed residuals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cluster can win</a:t>
            </a:r>
            <a:endParaRPr lang="en-US" sz="1400" dirty="0"/>
          </a:p>
        </p:txBody>
      </p:sp>
      <p:sp>
        <p:nvSpPr>
          <p:cNvPr id="12" name="card-MM"/>
          <p:cNvSpPr/>
          <p:nvPr/>
        </p:nvSpPr>
        <p:spPr>
          <a:xfrm>
            <a:off x="8915400" y="1371600"/>
            <a:ext cx="2651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098280" y="1481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187452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start + M-step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efficient, inherits start</a:t>
            </a:r>
            <a:endParaRPr lang="en-US" sz="1400" dirty="0"/>
          </a:p>
        </p:txBody>
      </p:sp>
      <p:sp>
        <p:nvSpPr>
          <p:cNvPr id="15" name="card-RANSAC"/>
          <p:cNvSpPr/>
          <p:nvPr/>
        </p:nvSpPr>
        <p:spPr>
          <a:xfrm>
            <a:off x="548640" y="3749040"/>
            <a:ext cx="2651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1520" y="3858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25196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2-point models, count inliers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some geometries</a:t>
            </a:r>
            <a:endParaRPr lang="en-US" sz="1400" dirty="0"/>
          </a:p>
        </p:txBody>
      </p:sp>
      <p:sp>
        <p:nvSpPr>
          <p:cNvPr id="18" name="card-Hough transform"/>
          <p:cNvSpPr/>
          <p:nvPr/>
        </p:nvSpPr>
        <p:spPr>
          <a:xfrm>
            <a:off x="3337560" y="3749040"/>
            <a:ext cx="2651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520440" y="3858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 transform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425196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in parameter space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seeking</a:t>
            </a:r>
            <a:endParaRPr lang="en-US" sz="1400" dirty="0"/>
          </a:p>
        </p:txBody>
      </p:sp>
      <p:sp>
        <p:nvSpPr>
          <p:cNvPr id="21" name="card-Shorth"/>
          <p:cNvSpPr/>
          <p:nvPr/>
        </p:nvSpPr>
        <p:spPr>
          <a:xfrm>
            <a:off x="6126480" y="374904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E8F1FE"/>
          </a:solidFill>
          <a:ln w="9525">
            <a:solidFill>
              <a:srgbClr val="1F6FEB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309360" y="3858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25196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half-interval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RAShR building block</a:t>
            </a:r>
            <a:endParaRPr lang="en-US" sz="1400" dirty="0"/>
          </a:p>
        </p:txBody>
      </p:sp>
      <p:sp>
        <p:nvSpPr>
          <p:cNvPr id="24" name="card-Directional regression"/>
          <p:cNvSpPr/>
          <p:nvPr/>
        </p:nvSpPr>
        <p:spPr>
          <a:xfrm>
            <a:off x="8915400" y="374904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E8F1FE"/>
          </a:solidFill>
          <a:ln w="9525">
            <a:solidFill>
              <a:srgbClr val="1F6FEB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098280" y="3858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regression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425196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as geometry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same spirit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</a:rPr>
              <a:t>Each method: geometric object → what it measures → limitation → link to RAShR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Siegel's repeated median: median of local medians</a:t>
            </a:r>
            <a:endParaRPr lang="en-US" sz="3000" dirty="0"/>
          </a:p>
        </p:txBody>
      </p:sp>
      <p:pic>
        <p:nvPicPr>
          <p:cNvPr id="3" name="fig12_repeated_median" descr="Repeated median in three ste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264" y="1280160"/>
            <a:ext cx="7936992" cy="2834640"/>
          </a:xfrm>
          <a:prstGeom prst="rect">
            <a:avLst/>
          </a:prstGeom>
        </p:spPr>
      </p:pic>
      <p:sp>
        <p:nvSpPr>
          <p:cNvPr id="4" name="chip-1 anchor"/>
          <p:cNvSpPr/>
          <p:nvPr/>
        </p:nvSpPr>
        <p:spPr>
          <a:xfrm>
            <a:off x="548640" y="4206240"/>
            <a:ext cx="16459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4206240"/>
            <a:ext cx="1645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anchor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4206240"/>
            <a:ext cx="23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2"/>
                </a:solidFill>
              </a:rPr>
              <a:t>›</a:t>
            </a:r>
            <a:endParaRPr lang="en-US" sz="2000" dirty="0"/>
          </a:p>
        </p:txBody>
      </p:sp>
      <p:sp>
        <p:nvSpPr>
          <p:cNvPr id="7" name="chip-2 chords"/>
          <p:cNvSpPr/>
          <p:nvPr/>
        </p:nvSpPr>
        <p:spPr>
          <a:xfrm>
            <a:off x="2432304" y="4206240"/>
            <a:ext cx="16459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432304" y="4206240"/>
            <a:ext cx="1645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chords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078224" y="4206240"/>
            <a:ext cx="23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2"/>
                </a:solidFill>
              </a:rPr>
              <a:t>›</a:t>
            </a:r>
            <a:endParaRPr lang="en-US" sz="2000" dirty="0"/>
          </a:p>
        </p:txBody>
      </p:sp>
      <p:sp>
        <p:nvSpPr>
          <p:cNvPr id="10" name="chip-3 slopes"/>
          <p:cNvSpPr/>
          <p:nvPr/>
        </p:nvSpPr>
        <p:spPr>
          <a:xfrm>
            <a:off x="4315968" y="4206240"/>
            <a:ext cx="16459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15968" y="4206240"/>
            <a:ext cx="1645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slopes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961888" y="4206240"/>
            <a:ext cx="23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2"/>
                </a:solidFill>
              </a:rPr>
              <a:t>›</a:t>
            </a:r>
            <a:endParaRPr lang="en-US" sz="2000" dirty="0"/>
          </a:p>
        </p:txBody>
      </p:sp>
      <p:sp>
        <p:nvSpPr>
          <p:cNvPr id="13" name="chip-4 local median"/>
          <p:cNvSpPr/>
          <p:nvPr/>
        </p:nvSpPr>
        <p:spPr>
          <a:xfrm>
            <a:off x="6199632" y="4206240"/>
            <a:ext cx="16459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99632" y="4206240"/>
            <a:ext cx="1645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local median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845552" y="4206240"/>
            <a:ext cx="23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2"/>
                </a:solidFill>
              </a:rPr>
              <a:t>›</a:t>
            </a:r>
            <a:endParaRPr lang="en-US" sz="2000" dirty="0"/>
          </a:p>
        </p:txBody>
      </p:sp>
      <p:sp>
        <p:nvSpPr>
          <p:cNvPr id="16" name="chip-5 all anchors"/>
          <p:cNvSpPr/>
          <p:nvPr/>
        </p:nvSpPr>
        <p:spPr>
          <a:xfrm>
            <a:off x="8083296" y="4206240"/>
            <a:ext cx="16459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83296" y="4206240"/>
            <a:ext cx="1645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all anchors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729216" y="4206240"/>
            <a:ext cx="237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2"/>
                </a:solidFill>
              </a:rPr>
              <a:t>›</a:t>
            </a:r>
            <a:endParaRPr lang="en-US" sz="2000" dirty="0"/>
          </a:p>
        </p:txBody>
      </p:sp>
      <p:sp>
        <p:nvSpPr>
          <p:cNvPr id="19" name="chip-6 median of medians"/>
          <p:cNvSpPr/>
          <p:nvPr/>
        </p:nvSpPr>
        <p:spPr>
          <a:xfrm>
            <a:off x="9966960" y="4206240"/>
            <a:ext cx="16459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966960" y="4206240"/>
            <a:ext cx="1645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median of medians</a:t>
            </a:r>
            <a:endParaRPr lang="en-US" sz="1400" dirty="0"/>
          </a:p>
        </p:txBody>
      </p:sp>
      <p:sp>
        <p:nvSpPr>
          <p:cNvPr id="21" name="eq-bg-rm"/>
          <p:cNvSpPr/>
          <p:nvPr/>
        </p:nvSpPr>
        <p:spPr>
          <a:xfrm>
            <a:off x="548640" y="5074920"/>
            <a:ext cx="58521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pic>
        <p:nvPicPr>
          <p:cNvPr id="22" name="eq-rm" descr="formula r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889" y="5166360"/>
            <a:ext cx="2457662" cy="548640"/>
          </a:xfrm>
          <a:prstGeom prst="rect">
            <a:avLst/>
          </a:prstGeom>
        </p:spPr>
      </p:pic>
      <p:sp>
        <p:nvSpPr>
          <p:cNvPr id="23" name="card-Bridge to RAShR"/>
          <p:cNvSpPr/>
          <p:nvPr/>
        </p:nvSpPr>
        <p:spPr>
          <a:xfrm>
            <a:off x="6675120" y="4983480"/>
            <a:ext cx="4937760" cy="1280160"/>
          </a:xfrm>
          <a:prstGeom prst="roundRect">
            <a:avLst>
              <a:gd name="adj" fmla="val 8571"/>
            </a:avLst>
          </a:prstGeom>
          <a:solidFill>
            <a:srgbClr val="E8F1FE"/>
          </a:solidFill>
          <a:ln w="9525">
            <a:solidFill>
              <a:srgbClr val="1F6FEB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6858000" y="5093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RAShR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6858000" y="54864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pairwise-geometric idea; replace slope/median aggregation by angular concentration through the shorth.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RAShR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657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→ chords → directions → projective angles → angular shorth → local directions → repeated shorth → slope → intercept → line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path, in one picture</a:t>
            </a:r>
            <a:endParaRPr lang="en-US" sz="3000" dirty="0"/>
          </a:p>
        </p:txBody>
      </p:sp>
      <p:sp>
        <p:nvSpPr>
          <p:cNvPr id="3" name="chip-points"/>
          <p:cNvSpPr/>
          <p:nvPr/>
        </p:nvSpPr>
        <p:spPr>
          <a:xfrm>
            <a:off x="548640" y="1463040"/>
            <a:ext cx="201168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4630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2"/>
                </a:solidFill>
              </a:rPr>
              <a:t>›</a:t>
            </a:r>
            <a:endParaRPr lang="en-US" sz="2000" dirty="0"/>
          </a:p>
        </p:txBody>
      </p:sp>
      <p:sp>
        <p:nvSpPr>
          <p:cNvPr id="6" name="chip-standardize"/>
          <p:cNvSpPr/>
          <p:nvPr/>
        </p:nvSpPr>
        <p:spPr>
          <a:xfrm>
            <a:off x="2816352" y="1463040"/>
            <a:ext cx="201168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16352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28032" y="14630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2"/>
                </a:solidFill>
              </a:rPr>
              <a:t>›</a:t>
            </a:r>
            <a:endParaRPr lang="en-US" sz="2000" dirty="0"/>
          </a:p>
        </p:txBody>
      </p:sp>
      <p:sp>
        <p:nvSpPr>
          <p:cNvPr id="9" name="chip-chords"/>
          <p:cNvSpPr/>
          <p:nvPr/>
        </p:nvSpPr>
        <p:spPr>
          <a:xfrm>
            <a:off x="5084064" y="1463040"/>
            <a:ext cx="201168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84064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chords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95744" y="14630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2"/>
                </a:solidFill>
              </a:rPr>
              <a:t>›</a:t>
            </a:r>
            <a:endParaRPr lang="en-US" sz="2000" dirty="0"/>
          </a:p>
        </p:txBody>
      </p:sp>
      <p:sp>
        <p:nvSpPr>
          <p:cNvPr id="12" name="chip-directions φ"/>
          <p:cNvSpPr/>
          <p:nvPr/>
        </p:nvSpPr>
        <p:spPr>
          <a:xfrm>
            <a:off x="7351776" y="1463040"/>
            <a:ext cx="201168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51776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φ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363456" y="14630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2"/>
                </a:solidFill>
              </a:rPr>
              <a:t>›</a:t>
            </a:r>
            <a:endParaRPr lang="en-US" sz="2000" dirty="0"/>
          </a:p>
        </p:txBody>
      </p:sp>
      <p:sp>
        <p:nvSpPr>
          <p:cNvPr id="15" name="chip-projective angles"/>
          <p:cNvSpPr/>
          <p:nvPr/>
        </p:nvSpPr>
        <p:spPr>
          <a:xfrm>
            <a:off x="9619488" y="1463040"/>
            <a:ext cx="201168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19488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angles</a:t>
            </a:r>
            <a:endParaRPr lang="en-US" sz="1400" dirty="0"/>
          </a:p>
        </p:txBody>
      </p:sp>
      <p:sp>
        <p:nvSpPr>
          <p:cNvPr id="17" name="chip-angular shorth"/>
          <p:cNvSpPr/>
          <p:nvPr/>
        </p:nvSpPr>
        <p:spPr>
          <a:xfrm>
            <a:off x="548640" y="2651760"/>
            <a:ext cx="20116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shorth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26517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2"/>
                </a:solidFill>
              </a:rPr>
              <a:t>›</a:t>
            </a:r>
            <a:endParaRPr lang="en-US" sz="2000" dirty="0"/>
          </a:p>
        </p:txBody>
      </p:sp>
      <p:sp>
        <p:nvSpPr>
          <p:cNvPr id="20" name="chip-local θᵢ, wᵢ"/>
          <p:cNvSpPr/>
          <p:nvPr/>
        </p:nvSpPr>
        <p:spPr>
          <a:xfrm>
            <a:off x="2816352" y="2651760"/>
            <a:ext cx="20116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16352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θ</a:t>
            </a:r>
            <a:pPr algn="ctr" indent="0" marL="0">
              <a:buNone/>
            </a:pPr>
            <a:r>
              <a:rPr lang="en-US" sz="1400" b="1" baseline="-40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</a:t>
            </a:r>
            <a:pPr algn="ctr" indent="0" marL="0">
              <a:buNone/>
            </a:pPr>
            <a:r>
              <a:rPr lang="en-US" sz="1400" b="1" baseline="-40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28032" y="26517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2"/>
                </a:solidFill>
              </a:rPr>
              <a:t>›</a:t>
            </a:r>
            <a:endParaRPr lang="en-US" sz="2000" dirty="0"/>
          </a:p>
        </p:txBody>
      </p:sp>
      <p:sp>
        <p:nvSpPr>
          <p:cNvPr id="23" name="chip-repeated shorth θ̂"/>
          <p:cNvSpPr/>
          <p:nvPr/>
        </p:nvSpPr>
        <p:spPr>
          <a:xfrm>
            <a:off x="5084064" y="2651760"/>
            <a:ext cx="20116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84064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shorth θ-hat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95744" y="26517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2"/>
                </a:solidFill>
              </a:rPr>
              <a:t>›</a:t>
            </a:r>
            <a:endParaRPr lang="en-US" sz="2000" dirty="0"/>
          </a:p>
        </p:txBody>
      </p:sp>
      <p:sp>
        <p:nvSpPr>
          <p:cNvPr id="26" name="chip-slope β̂"/>
          <p:cNvSpPr/>
          <p:nvPr/>
        </p:nvSpPr>
        <p:spPr>
          <a:xfrm>
            <a:off x="7351776" y="2651760"/>
            <a:ext cx="20116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51776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β-hat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363456" y="26517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2"/>
                </a:solidFill>
              </a:rPr>
              <a:t>›</a:t>
            </a:r>
            <a:endParaRPr lang="en-US" sz="2000" dirty="0"/>
          </a:p>
        </p:txBody>
      </p:sp>
      <p:sp>
        <p:nvSpPr>
          <p:cNvPr id="29" name="chip-intercept α̂"/>
          <p:cNvSpPr/>
          <p:nvPr/>
        </p:nvSpPr>
        <p:spPr>
          <a:xfrm>
            <a:off x="9619488" y="2651760"/>
            <a:ext cx="20116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19488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α-hat</a:t>
            </a:r>
            <a:endParaRPr lang="en-US" sz="1400" dirty="0"/>
          </a:p>
        </p:txBody>
      </p:sp>
      <p:pic>
        <p:nvPicPr>
          <p:cNvPr id="31" name="p_filmstrip_anchor" descr="One anchor step by ste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51474"/>
            <a:ext cx="11064240" cy="21554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Angles depend on units, so standardize robustly</a:t>
            </a:r>
            <a:endParaRPr lang="en-US" sz="3000" dirty="0"/>
          </a:p>
        </p:txBody>
      </p:sp>
      <p:pic>
        <p:nvPicPr>
          <p:cNvPr id="3" name="p_filmstrip_scale" descr="Raw → centred → scaled da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2285"/>
            <a:ext cx="11064240" cy="2478950"/>
          </a:xfrm>
          <a:prstGeom prst="rect">
            <a:avLst/>
          </a:prstGeom>
        </p:spPr>
      </p:pic>
      <p:sp>
        <p:nvSpPr>
          <p:cNvPr id="4" name="eq-bg-std"/>
          <p:cNvSpPr/>
          <p:nvPr/>
        </p:nvSpPr>
        <p:spPr>
          <a:xfrm>
            <a:off x="548640" y="4343400"/>
            <a:ext cx="658368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pic>
        <p:nvPicPr>
          <p:cNvPr id="5" name="eq-std" descr="formula st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842" y="4434840"/>
            <a:ext cx="4925277" cy="594360"/>
          </a:xfrm>
          <a:prstGeom prst="rect">
            <a:avLst/>
          </a:prstGeom>
        </p:spPr>
      </p:pic>
      <p:sp>
        <p:nvSpPr>
          <p:cNvPr id="6" name="card-Details from the paper"/>
          <p:cNvSpPr/>
          <p:nvPr/>
        </p:nvSpPr>
        <p:spPr>
          <a:xfrm>
            <a:off x="7406640" y="4251960"/>
            <a:ext cx="42062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7589520" y="4361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from the paper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589520" y="475488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1.4826·MAD = normal-consistent scale. If MAD = 0, use the standard deviation of that coordinate.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</a:rPr>
              <a:t>original data → robust centre → robust scale → standardized data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A chord is a vector; its direction is atan2</a:t>
            </a:r>
            <a:endParaRPr lang="en-US" sz="3000" dirty="0"/>
          </a:p>
        </p:txBody>
      </p:sp>
      <p:pic>
        <p:nvPicPr>
          <p:cNvPr id="3" name="p_chord_fan" descr="Chords from one anchor to all other poi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9075"/>
            <a:ext cx="6766560" cy="4177050"/>
          </a:xfrm>
          <a:prstGeom prst="rect">
            <a:avLst/>
          </a:prstGeom>
        </p:spPr>
      </p:pic>
      <p:sp>
        <p:nvSpPr>
          <p:cNvPr id="4" name="eq-bg-phi"/>
          <p:cNvSpPr/>
          <p:nvPr/>
        </p:nvSpPr>
        <p:spPr>
          <a:xfrm>
            <a:off x="7589520" y="1371600"/>
            <a:ext cx="406908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pic>
        <p:nvPicPr>
          <p:cNvPr id="5" name="eq-phi" descr="formula ph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1582166"/>
            <a:ext cx="3794760" cy="401828"/>
          </a:xfrm>
          <a:prstGeom prst="rect">
            <a:avLst/>
          </a:prstGeom>
        </p:spPr>
      </p:pic>
      <p:sp>
        <p:nvSpPr>
          <p:cNvPr id="6" name="card-Why atan2?"/>
          <p:cNvSpPr/>
          <p:nvPr/>
        </p:nvSpPr>
        <p:spPr>
          <a:xfrm>
            <a:off x="7589520" y="2423160"/>
            <a:ext cx="40690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7772400" y="253288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atan2?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0" y="292608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 uses the vector (Δu, Δv), not the ratio Δv/Δu.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nearly vertical chord (Δu ≈ 0) is harmless.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Majority–majority chords (blue) fan out near the true direction; chords to the cluster (red) all share one very different direction as seen from this anchor.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The projective circle: a line has no orientation</a:t>
            </a:r>
            <a:endParaRPr lang="en-US" sz="3000" dirty="0"/>
          </a:p>
        </p:txBody>
      </p:sp>
      <p:pic>
        <p:nvPicPr>
          <p:cNvPr id="3" name="fig3_projective_circle" descr="Projective circle and wrap-a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1584"/>
            <a:ext cx="7406640" cy="3431872"/>
          </a:xfrm>
          <a:prstGeom prst="rect">
            <a:avLst/>
          </a:prstGeom>
        </p:spPr>
      </p:pic>
      <p:sp>
        <p:nvSpPr>
          <p:cNvPr id="4" name="eq-bg-dpi"/>
          <p:cNvSpPr/>
          <p:nvPr/>
        </p:nvSpPr>
        <p:spPr>
          <a:xfrm>
            <a:off x="548640" y="5029200"/>
            <a:ext cx="49377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pic>
        <p:nvPicPr>
          <p:cNvPr id="5" name="eq-dpi" descr="formula dp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167797"/>
            <a:ext cx="4663440" cy="454326"/>
          </a:xfrm>
          <a:prstGeom prst="rect">
            <a:avLst/>
          </a:prstGeom>
        </p:spPr>
      </p:pic>
      <p:sp>
        <p:nvSpPr>
          <p:cNvPr id="6" name="card-20° ≡ 200°"/>
          <p:cNvSpPr/>
          <p:nvPr/>
        </p:nvSpPr>
        <p:spPr>
          <a:xfrm>
            <a:off x="8229600" y="1280160"/>
            <a:ext cx="34290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8412480" y="13898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20° ≡ 200°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412480" y="178308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directions are the same unoriented line, so directions live on [0, π) with 0 and π glued.</a:t>
            </a:r>
            <a:endParaRPr lang="en-US" sz="1400" dirty="0"/>
          </a:p>
        </p:txBody>
      </p:sp>
      <p:sp>
        <p:nvSpPr>
          <p:cNvPr id="9" name="card-Wrap-around"/>
          <p:cNvSpPr/>
          <p:nvPr/>
        </p:nvSpPr>
        <p:spPr>
          <a:xfrm>
            <a:off x="8229600" y="3794760"/>
            <a:ext cx="3429000" cy="2331720"/>
          </a:xfrm>
          <a:prstGeom prst="roundRect">
            <a:avLst>
              <a:gd name="adj" fmla="val 4706"/>
            </a:avLst>
          </a:prstGeom>
          <a:solidFill>
            <a:srgbClr val="FFF8F0"/>
          </a:solidFill>
          <a:ln w="9525">
            <a:solidFill>
              <a:srgbClr val="F28F3B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412480" y="39044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Wrap-around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412480" y="429768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5° and 175° are only 10° apart. An ordinary real interval cannot represent an arc crossing the seam.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Angular shorth: the shortest arc holding half the angles</a:t>
            </a:r>
            <a:endParaRPr lang="en-US" sz="3000" dirty="0"/>
          </a:p>
        </p:txBody>
      </p:sp>
      <p:pic>
        <p:nvPicPr>
          <p:cNvPr id="3" name="fig4_angular_shorth" descr="Angular shorth window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968" y="1188720"/>
            <a:ext cx="8337584" cy="2834640"/>
          </a:xfrm>
          <a:prstGeom prst="rect">
            <a:avLst/>
          </a:prstGeom>
        </p:spPr>
      </p:pic>
      <p:sp>
        <p:nvSpPr>
          <p:cNvPr id="4" name="chip-on circle"/>
          <p:cNvSpPr/>
          <p:nvPr/>
        </p:nvSpPr>
        <p:spPr>
          <a:xfrm>
            <a:off x="548640" y="4114800"/>
            <a:ext cx="1444752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4114800"/>
            <a:ext cx="1444752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circle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993392" y="411480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2"/>
                </a:solidFill>
              </a:rPr>
              <a:t>›</a:t>
            </a:r>
            <a:endParaRPr lang="en-US" sz="2000" dirty="0"/>
          </a:p>
        </p:txBody>
      </p:sp>
      <p:sp>
        <p:nvSpPr>
          <p:cNvPr id="7" name="chip-sort"/>
          <p:cNvSpPr/>
          <p:nvPr/>
        </p:nvSpPr>
        <p:spPr>
          <a:xfrm>
            <a:off x="2148840" y="4114800"/>
            <a:ext cx="1444752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48840" y="4114800"/>
            <a:ext cx="1444752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593592" y="411480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2"/>
                </a:solidFill>
              </a:rPr>
              <a:t>›</a:t>
            </a:r>
            <a:endParaRPr lang="en-US" sz="2000" dirty="0"/>
          </a:p>
        </p:txBody>
      </p:sp>
      <p:sp>
        <p:nvSpPr>
          <p:cNvPr id="10" name="chip-copy + π"/>
          <p:cNvSpPr/>
          <p:nvPr/>
        </p:nvSpPr>
        <p:spPr>
          <a:xfrm>
            <a:off x="3749040" y="4114800"/>
            <a:ext cx="1444752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749040" y="4114800"/>
            <a:ext cx="1444752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+ π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193792" y="411480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2"/>
                </a:solidFill>
              </a:rPr>
              <a:t>›</a:t>
            </a:r>
            <a:endParaRPr lang="en-US" sz="2000" dirty="0"/>
          </a:p>
        </p:txBody>
      </p:sp>
      <p:sp>
        <p:nvSpPr>
          <p:cNvPr id="13" name="chip-slide h-windows"/>
          <p:cNvSpPr/>
          <p:nvPr/>
        </p:nvSpPr>
        <p:spPr>
          <a:xfrm>
            <a:off x="5349240" y="4114800"/>
            <a:ext cx="1444752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49240" y="4114800"/>
            <a:ext cx="1444752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h-windows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793992" y="411480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2"/>
                </a:solidFill>
              </a:rPr>
              <a:t>›</a:t>
            </a:r>
            <a:endParaRPr lang="en-US" sz="2000" dirty="0"/>
          </a:p>
        </p:txBody>
      </p:sp>
      <p:sp>
        <p:nvSpPr>
          <p:cNvPr id="16" name="chip-measure widths"/>
          <p:cNvSpPr/>
          <p:nvPr/>
        </p:nvSpPr>
        <p:spPr>
          <a:xfrm>
            <a:off x="6949440" y="4114800"/>
            <a:ext cx="1444752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49440" y="4114800"/>
            <a:ext cx="1444752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widths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394192" y="411480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2"/>
                </a:solidFill>
              </a:rPr>
              <a:t>›</a:t>
            </a:r>
            <a:endParaRPr lang="en-US" sz="2000" dirty="0"/>
          </a:p>
        </p:txBody>
      </p:sp>
      <p:sp>
        <p:nvSpPr>
          <p:cNvPr id="19" name="chip-shortest wins"/>
          <p:cNvSpPr/>
          <p:nvPr/>
        </p:nvSpPr>
        <p:spPr>
          <a:xfrm>
            <a:off x="8549640" y="4114800"/>
            <a:ext cx="1444752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49640" y="4114800"/>
            <a:ext cx="1444752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wins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994392" y="411480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2"/>
                </a:solidFill>
              </a:rPr>
              <a:t>›</a:t>
            </a:r>
            <a:endParaRPr lang="en-US" sz="2000" dirty="0"/>
          </a:p>
        </p:txBody>
      </p:sp>
      <p:sp>
        <p:nvSpPr>
          <p:cNvPr id="22" name="chip-midpoint"/>
          <p:cNvSpPr/>
          <p:nvPr/>
        </p:nvSpPr>
        <p:spPr>
          <a:xfrm>
            <a:off x="10149840" y="4114800"/>
            <a:ext cx="1444752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149840" y="4114800"/>
            <a:ext cx="1444752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midpoint</a:t>
            </a:r>
            <a:endParaRPr lang="en-US" sz="1400" dirty="0"/>
          </a:p>
        </p:txBody>
      </p:sp>
      <p:sp>
        <p:nvSpPr>
          <p:cNvPr id="24" name="eq-bg-ash"/>
          <p:cNvSpPr/>
          <p:nvPr/>
        </p:nvSpPr>
        <p:spPr>
          <a:xfrm>
            <a:off x="548640" y="4937760"/>
            <a:ext cx="67665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pic>
        <p:nvPicPr>
          <p:cNvPr id="25" name="eq-ash" descr="formula a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71455"/>
            <a:ext cx="6492240" cy="464131"/>
          </a:xfrm>
          <a:prstGeom prst="rect">
            <a:avLst/>
          </a:prstGeom>
        </p:spPr>
      </p:pic>
      <p:sp>
        <p:nvSpPr>
          <p:cNvPr id="26" name="card-Shorth ≠ median"/>
          <p:cNvSpPr/>
          <p:nvPr/>
        </p:nvSpPr>
        <p:spPr>
          <a:xfrm>
            <a:off x="7589520" y="4846320"/>
            <a:ext cx="40690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772400" y="49560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 ≠ median</a:t>
            </a:r>
            <a:endParaRPr lang="en-US" sz="1600" dirty="0"/>
          </a:p>
        </p:txBody>
      </p:sp>
      <p:sp>
        <p:nvSpPr>
          <p:cNvPr id="28" name="Text 24"/>
          <p:cNvSpPr txBox="1"/>
          <p:nvPr/>
        </p:nvSpPr>
        <p:spPr>
          <a:xfrm>
            <a:off x="7772400" y="534924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angle = middle-ranked. Shorth = centre of the strongest concentrated half. Ties → smallest left endpoint.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— Local direction: what one anchor sees</a:t>
            </a:r>
            <a:endParaRPr lang="en-US" sz="3000" dirty="0"/>
          </a:p>
        </p:txBody>
      </p:sp>
      <p:pic>
        <p:nvPicPr>
          <p:cNvPr id="3" name="p_circle_anchor" descr="Anchor's chord directions on the projective 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60613"/>
            <a:ext cx="4846320" cy="4793975"/>
          </a:xfrm>
          <a:prstGeom prst="rect">
            <a:avLst/>
          </a:prstGeom>
        </p:spPr>
      </p:pic>
      <p:sp>
        <p:nvSpPr>
          <p:cNvPr id="4" name="eq-bg-local"/>
          <p:cNvSpPr/>
          <p:nvPr/>
        </p:nvSpPr>
        <p:spPr>
          <a:xfrm>
            <a:off x="5669280" y="1371600"/>
            <a:ext cx="598932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pic>
        <p:nvPicPr>
          <p:cNvPr id="5" name="eq-local" descr="formula loc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539244"/>
            <a:ext cx="5715000" cy="441953"/>
          </a:xfrm>
          <a:prstGeom prst="rect">
            <a:avLst/>
          </a:prstGeom>
        </p:spPr>
      </p:pic>
      <p:sp>
        <p:nvSpPr>
          <p:cNvPr id="6" name="card-Small wᵢ"/>
          <p:cNvSpPr/>
          <p:nvPr/>
        </p:nvSpPr>
        <p:spPr>
          <a:xfrm>
            <a:off x="5669280" y="2377440"/>
            <a:ext cx="2926080" cy="2011680"/>
          </a:xfrm>
          <a:prstGeom prst="roundRect">
            <a:avLst>
              <a:gd name="adj" fmla="val 5455"/>
            </a:avLst>
          </a:prstGeom>
          <a:solidFill>
            <a:srgbClr val="E8F7F8"/>
          </a:solidFill>
          <a:ln w="9525">
            <a:solidFill>
              <a:srgbClr val="0FA3B1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5852160" y="24871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w</a:t>
            </a:r>
            <a:pPr indent="0" marL="0">
              <a:buNone/>
            </a:pPr>
            <a:r>
              <a:rPr lang="en-US" sz="1600" b="1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852160" y="288036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directional agreement from anchor i.</a:t>
            </a:r>
            <a:endParaRPr lang="en-US" sz="1500" dirty="0"/>
          </a:p>
        </p:txBody>
      </p:sp>
      <p:sp>
        <p:nvSpPr>
          <p:cNvPr id="9" name="card-Large wᵢ"/>
          <p:cNvSpPr/>
          <p:nvPr/>
        </p:nvSpPr>
        <p:spPr>
          <a:xfrm>
            <a:off x="8732520" y="2377440"/>
            <a:ext cx="2926080" cy="2011680"/>
          </a:xfrm>
          <a:prstGeom prst="roundRect">
            <a:avLst>
              <a:gd name="adj" fmla="val 5455"/>
            </a:avLst>
          </a:prstGeom>
          <a:solidFill>
            <a:srgbClr val="FFF8F0"/>
          </a:solidFill>
          <a:ln w="9525">
            <a:solidFill>
              <a:srgbClr val="F28F3B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915400" y="24871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w</a:t>
            </a:r>
            <a:pPr indent="0" marL="0">
              <a:buNone/>
            </a:pPr>
            <a:r>
              <a:rPr lang="en-US" sz="1600" b="1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915400" y="288036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agreement; no clear direction from this anchor.</a:t>
            </a:r>
            <a:endParaRPr lang="en-US" sz="1500" dirty="0"/>
          </a:p>
        </p:txBody>
      </p:sp>
      <p:sp>
        <p:nvSpPr>
          <p:cNvPr id="12" name="card-On the circle"/>
          <p:cNvSpPr/>
          <p:nvPr/>
        </p:nvSpPr>
        <p:spPr>
          <a:xfrm>
            <a:off x="5669280" y="4572000"/>
            <a:ext cx="59893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5852160" y="4681728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circle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852160" y="5074920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dots: chords to majority points. Red dots: chords to the cluster. The teal arc is the shortest half-window; its midpoint is θ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 — Repeated: the same shorth, twice</a:t>
            </a:r>
            <a:endParaRPr lang="en-US" sz="3000" dirty="0"/>
          </a:p>
        </p:txBody>
      </p:sp>
      <p:pic>
        <p:nvPicPr>
          <p:cNvPr id="3" name="p_two_level" descr="Local shorth at six anchors, then outer shorth over all local direc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24055"/>
            <a:ext cx="11064240" cy="3769810"/>
          </a:xfrm>
          <a:prstGeom prst="rect">
            <a:avLst/>
          </a:prstGeom>
        </p:spPr>
      </p:pic>
      <p:sp>
        <p:nvSpPr>
          <p:cNvPr id="4" name="eq-bg-outer"/>
          <p:cNvSpPr/>
          <p:nvPr/>
        </p:nvSpPr>
        <p:spPr>
          <a:xfrm>
            <a:off x="548640" y="5212080"/>
            <a:ext cx="347472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pic>
        <p:nvPicPr>
          <p:cNvPr id="5" name="eq-outer" descr="formula ou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96" y="5327294"/>
            <a:ext cx="3105607" cy="546811"/>
          </a:xfrm>
          <a:prstGeom prst="rect">
            <a:avLst/>
          </a:prstGeom>
        </p:spPr>
      </p:pic>
      <p:sp>
        <p:nvSpPr>
          <p:cNvPr id="6" name="card-Local aggregation"/>
          <p:cNvSpPr/>
          <p:nvPr/>
        </p:nvSpPr>
        <p:spPr>
          <a:xfrm>
            <a:off x="4206240" y="5120640"/>
            <a:ext cx="36576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4389120" y="5230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aggregation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4389120" y="5623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each anchor's n − 1 chords (h</a:t>
            </a:r>
            <a:pPr indent="0" marL="0">
              <a:spcAft>
                <a:spcPts val="400"/>
              </a:spcAft>
              <a:buNone/>
            </a:pPr>
            <a:r>
              <a:rPr lang="en-US" sz="13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⌈(n−1)/2⌉)</a:t>
            </a:r>
            <a:endParaRPr lang="en-US" sz="1300" dirty="0"/>
          </a:p>
        </p:txBody>
      </p:sp>
      <p:sp>
        <p:nvSpPr>
          <p:cNvPr id="9" name="card-Outer aggregation"/>
          <p:cNvSpPr/>
          <p:nvPr/>
        </p:nvSpPr>
        <p:spPr>
          <a:xfrm>
            <a:off x="8001000" y="5120640"/>
            <a:ext cx="36576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183880" y="5230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aggregation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183880" y="5623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n local directions (h</a:t>
            </a:r>
            <a:pPr indent="0" marL="0">
              <a:spcAft>
                <a:spcPts val="400"/>
              </a:spcAft>
              <a:buNone/>
            </a:pPr>
            <a:r>
              <a:rPr lang="en-US" sz="13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⌈n/2⌉)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 — Back to the original scale</a:t>
            </a:r>
            <a:endParaRPr lang="en-US" sz="3000" dirty="0"/>
          </a:p>
        </p:txBody>
      </p:sp>
      <p:sp>
        <p:nvSpPr>
          <p:cNvPr id="3" name="chip-chip_theta"/>
          <p:cNvSpPr/>
          <p:nvPr/>
        </p:nvSpPr>
        <p:spPr>
          <a:xfrm>
            <a:off x="548640" y="1280160"/>
            <a:ext cx="201168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pic>
        <p:nvPicPr>
          <p:cNvPr id="4" name="Image 0" descr="chip_the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4891" y="1399032"/>
            <a:ext cx="159179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560320" y="12801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2"/>
                </a:solidFill>
              </a:rPr>
              <a:t>›</a:t>
            </a:r>
            <a:endParaRPr lang="en-US" sz="2000" dirty="0"/>
          </a:p>
        </p:txBody>
      </p:sp>
      <p:sp>
        <p:nvSpPr>
          <p:cNvPr id="6" name="chip-chip_tan"/>
          <p:cNvSpPr/>
          <p:nvPr/>
        </p:nvSpPr>
        <p:spPr>
          <a:xfrm>
            <a:off x="2816352" y="1280160"/>
            <a:ext cx="201168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pic>
        <p:nvPicPr>
          <p:cNvPr id="7" name="Image 1" descr="chip_t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347" y="1399032"/>
            <a:ext cx="447690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828032" y="12801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2"/>
                </a:solidFill>
              </a:rPr>
              <a:t>›</a:t>
            </a:r>
            <a:endParaRPr lang="en-US" sz="2000" dirty="0"/>
          </a:p>
        </p:txBody>
      </p:sp>
      <p:sp>
        <p:nvSpPr>
          <p:cNvPr id="9" name="chip-chip_sy"/>
          <p:cNvSpPr/>
          <p:nvPr/>
        </p:nvSpPr>
        <p:spPr>
          <a:xfrm>
            <a:off x="5084064" y="1280160"/>
            <a:ext cx="201168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pic>
        <p:nvPicPr>
          <p:cNvPr id="10" name="Image 2" descr="chip_s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460" y="1399032"/>
            <a:ext cx="404888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095744" y="12801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2"/>
                </a:solidFill>
              </a:rPr>
              <a:t>›</a:t>
            </a:r>
            <a:endParaRPr lang="en-US" sz="2000" dirty="0"/>
          </a:p>
        </p:txBody>
      </p:sp>
      <p:sp>
        <p:nvSpPr>
          <p:cNvPr id="12" name="chip-chip_sx"/>
          <p:cNvSpPr/>
          <p:nvPr/>
        </p:nvSpPr>
        <p:spPr>
          <a:xfrm>
            <a:off x="7351776" y="1280160"/>
            <a:ext cx="201168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pic>
        <p:nvPicPr>
          <p:cNvPr id="13" name="Image 3" descr="chip_sx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5784" y="1399032"/>
            <a:ext cx="403663" cy="31089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363456" y="12801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2"/>
                </a:solidFill>
              </a:rPr>
              <a:t>›</a:t>
            </a:r>
            <a:endParaRPr lang="en-US" sz="2000" dirty="0"/>
          </a:p>
        </p:txBody>
      </p:sp>
      <p:sp>
        <p:nvSpPr>
          <p:cNvPr id="15" name="chip-chip_beta"/>
          <p:cNvSpPr/>
          <p:nvPr/>
        </p:nvSpPr>
        <p:spPr>
          <a:xfrm>
            <a:off x="9619488" y="1280160"/>
            <a:ext cx="20116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16" name="Image 4" descr="chip_bet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1420" y="1399032"/>
            <a:ext cx="907816" cy="310896"/>
          </a:xfrm>
          <a:prstGeom prst="rect">
            <a:avLst/>
          </a:prstGeom>
        </p:spPr>
      </p:pic>
      <p:sp>
        <p:nvSpPr>
          <p:cNvPr id="17" name="eq-bg-slope"/>
          <p:cNvSpPr/>
          <p:nvPr/>
        </p:nvSpPr>
        <p:spPr>
          <a:xfrm>
            <a:off x="548640" y="2194560"/>
            <a:ext cx="110642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pic>
        <p:nvPicPr>
          <p:cNvPr id="18" name="eq-slope" descr="formula slop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7000" y="2286000"/>
            <a:ext cx="4907520" cy="548640"/>
          </a:xfrm>
          <a:prstGeom prst="rect">
            <a:avLst/>
          </a:prstGeom>
        </p:spPr>
      </p:pic>
      <p:pic>
        <p:nvPicPr>
          <p:cNvPr id="19" name="p_intercept" descr="Intercepts implied by each point; median chooses vertical positi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402096"/>
            <a:ext cx="7498080" cy="2522689"/>
          </a:xfrm>
          <a:prstGeom prst="rect">
            <a:avLst/>
          </a:prstGeom>
        </p:spPr>
      </p:pic>
      <p:sp>
        <p:nvSpPr>
          <p:cNvPr id="20" name="card-Honest caveat"/>
          <p:cNvSpPr/>
          <p:nvPr/>
        </p:nvSpPr>
        <p:spPr>
          <a:xfrm>
            <a:off x="8229600" y="320040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FF8F0"/>
          </a:solidFill>
          <a:ln w="9525">
            <a:solidFill>
              <a:srgbClr val="F28F3B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21" name="Text 12"/>
          <p:cNvSpPr txBox="1"/>
          <p:nvPr/>
        </p:nvSpPr>
        <p:spPr>
          <a:xfrm>
            <a:off x="8412480" y="33101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</a:t>
            </a:r>
            <a:endParaRPr lang="en-US" sz="1600" dirty="0"/>
          </a:p>
        </p:txBody>
      </p:sp>
      <p:sp>
        <p:nvSpPr>
          <p:cNvPr id="22" name="Text 13"/>
          <p:cNvSpPr txBox="1"/>
          <p:nvPr/>
        </p:nvSpPr>
        <p:spPr>
          <a:xfrm>
            <a:off x="8412480" y="370332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α-hat is a median over all observations. With 38% contamination at (15, −10) it can be pulled even when β-hat is right; the paper evaluates the slope.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and cost</a:t>
            </a:r>
            <a:endParaRPr lang="en-US" sz="3000" dirty="0"/>
          </a:p>
        </p:txBody>
      </p:sp>
      <p:sp>
        <p:nvSpPr>
          <p:cNvPr id="3" name="chip-raw observations"/>
          <p:cNvSpPr/>
          <p:nvPr/>
        </p:nvSpPr>
        <p:spPr>
          <a:xfrm>
            <a:off x="548640" y="1234440"/>
            <a:ext cx="393192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39319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observations</a:t>
            </a:r>
            <a:endParaRPr lang="en-US" sz="1400" dirty="0"/>
          </a:p>
        </p:txBody>
      </p:sp>
      <p:sp>
        <p:nvSpPr>
          <p:cNvPr id="5" name="chip-robust standardization"/>
          <p:cNvSpPr/>
          <p:nvPr/>
        </p:nvSpPr>
        <p:spPr>
          <a:xfrm>
            <a:off x="548640" y="1764792"/>
            <a:ext cx="393192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64792"/>
            <a:ext cx="39319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standardization</a:t>
            </a:r>
            <a:endParaRPr lang="en-US" sz="1400" dirty="0"/>
          </a:p>
        </p:txBody>
      </p:sp>
      <p:sp>
        <p:nvSpPr>
          <p:cNvPr id="7" name="chip-pairwise chord directions"/>
          <p:cNvSpPr/>
          <p:nvPr/>
        </p:nvSpPr>
        <p:spPr>
          <a:xfrm>
            <a:off x="548640" y="2295144"/>
            <a:ext cx="393192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95144"/>
            <a:ext cx="39319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chord directions</a:t>
            </a:r>
            <a:endParaRPr lang="en-US" sz="1400" dirty="0"/>
          </a:p>
        </p:txBody>
      </p:sp>
      <p:sp>
        <p:nvSpPr>
          <p:cNvPr id="9" name="chip-local shortest half-window"/>
          <p:cNvSpPr/>
          <p:nvPr/>
        </p:nvSpPr>
        <p:spPr>
          <a:xfrm>
            <a:off x="548640" y="2825496"/>
            <a:ext cx="393192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825496"/>
            <a:ext cx="39319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shortest half-window</a:t>
            </a:r>
            <a:endParaRPr lang="en-US" sz="1400" dirty="0"/>
          </a:p>
        </p:txBody>
      </p:sp>
      <p:sp>
        <p:nvSpPr>
          <p:cNvPr id="11" name="chip-local directions θᵢ"/>
          <p:cNvSpPr/>
          <p:nvPr/>
        </p:nvSpPr>
        <p:spPr>
          <a:xfrm>
            <a:off x="548640" y="3355848"/>
            <a:ext cx="393192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355848"/>
            <a:ext cx="39319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directions θ</a:t>
            </a:r>
            <a:pPr algn="ctr" indent="0" marL="0">
              <a:buNone/>
            </a:pPr>
            <a:r>
              <a:rPr lang="en-US" sz="1400" b="1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3" name="chip-second angular shorth"/>
          <p:cNvSpPr/>
          <p:nvPr/>
        </p:nvSpPr>
        <p:spPr>
          <a:xfrm>
            <a:off x="548640" y="3886200"/>
            <a:ext cx="393192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886200"/>
            <a:ext cx="39319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angular shorth</a:t>
            </a:r>
            <a:endParaRPr lang="en-US" sz="1400" dirty="0"/>
          </a:p>
        </p:txBody>
      </p:sp>
      <p:sp>
        <p:nvSpPr>
          <p:cNvPr id="15" name="chip-original-scale slope β̂"/>
          <p:cNvSpPr/>
          <p:nvPr/>
        </p:nvSpPr>
        <p:spPr>
          <a:xfrm>
            <a:off x="548640" y="4416552"/>
            <a:ext cx="393192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416552"/>
            <a:ext cx="39319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original-scale slope β-hat</a:t>
            </a:r>
            <a:endParaRPr lang="en-US" sz="1400" dirty="0"/>
          </a:p>
        </p:txBody>
      </p:sp>
      <p:sp>
        <p:nvSpPr>
          <p:cNvPr id="17" name="chip-median intercept α̂"/>
          <p:cNvSpPr/>
          <p:nvPr/>
        </p:nvSpPr>
        <p:spPr>
          <a:xfrm>
            <a:off x="548640" y="4946904"/>
            <a:ext cx="393192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946904"/>
            <a:ext cx="39319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intercept α-hat</a:t>
            </a:r>
            <a:endParaRPr lang="en-US" sz="1400" dirty="0"/>
          </a:p>
        </p:txBody>
      </p:sp>
      <p:sp>
        <p:nvSpPr>
          <p:cNvPr id="19" name="chip-final line"/>
          <p:cNvSpPr/>
          <p:nvPr/>
        </p:nvSpPr>
        <p:spPr>
          <a:xfrm>
            <a:off x="548640" y="5477256"/>
            <a:ext cx="3931920" cy="420624"/>
          </a:xfrm>
          <a:prstGeom prst="roundRect">
            <a:avLst>
              <a:gd name="adj" fmla="val 21739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477256"/>
            <a:ext cx="39319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line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1371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O(n² log n)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</a:rPr>
              <a:t>time: n anchors × sort n−1 angles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1371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44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</a:rPr>
              <a:t>extra memory, one anchor at a time</a:t>
            </a:r>
            <a:endParaRPr lang="en-US" sz="1400" dirty="0"/>
          </a:p>
        </p:txBody>
      </p:sp>
      <p:sp>
        <p:nvSpPr>
          <p:cNvPr id="25" name="card-vs exhaustive subset search"/>
          <p:cNvSpPr/>
          <p:nvPr/>
        </p:nvSpPr>
        <p:spPr>
          <a:xfrm>
            <a:off x="5120640" y="3017520"/>
            <a:ext cx="6537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5303520" y="3127248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exhaustive subset search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3520440"/>
            <a:ext cx="6172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LMS/LTS subset search is O(n³) in the paper's implementations. Same order as a direct repeated median.</a:t>
            </a:r>
            <a:endParaRPr lang="en-US" sz="1400" dirty="0"/>
          </a:p>
        </p:txBody>
      </p:sp>
      <p:sp>
        <p:nvSpPr>
          <p:cNvPr id="28" name="card-Deterministic"/>
          <p:cNvSpPr/>
          <p:nvPr/>
        </p:nvSpPr>
        <p:spPr>
          <a:xfrm>
            <a:off x="5120640" y="4617720"/>
            <a:ext cx="6537960" cy="1554480"/>
          </a:xfrm>
          <a:prstGeom prst="roundRect">
            <a:avLst>
              <a:gd name="adj" fmla="val 7059"/>
            </a:avLst>
          </a:prstGeom>
          <a:solidFill>
            <a:srgbClr val="E8F7F8"/>
          </a:solidFill>
          <a:ln w="9525">
            <a:solidFill>
              <a:srgbClr val="0FA3B1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303520" y="4727448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303520" y="5120640"/>
            <a:ext cx="6172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random sampling. Ties go to the smallest left endpoint, so the same data always give the same line.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 through geometry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657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→ meaning → geometry → experiment → significance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Proposition 1 — Exact fit (and Corollary 1)</a:t>
            </a:r>
            <a:endParaRPr lang="en-US" sz="3000" dirty="0"/>
          </a:p>
        </p:txBody>
      </p:sp>
      <p:pic>
        <p:nvPicPr>
          <p:cNvPr id="3" name="fig13_exact_fit" descr="Exact fit with contamin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50530"/>
            <a:ext cx="7132320" cy="3168219"/>
          </a:xfrm>
          <a:prstGeom prst="rect">
            <a:avLst/>
          </a:prstGeom>
        </p:spPr>
      </p:pic>
      <p:sp>
        <p:nvSpPr>
          <p:cNvPr id="4" name="card-Statement"/>
          <p:cNvSpPr/>
          <p:nvPr/>
        </p:nvSpPr>
        <p:spPr>
          <a:xfrm>
            <a:off x="7863840" y="1280160"/>
            <a:ext cx="379476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046720" y="13898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1783080"/>
            <a:ext cx="3429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α* + β*x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distinct x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(α-hat, β-hat) = (α*, β*).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chords share one direction → all shorth widths are 0.</a:t>
            </a:r>
            <a:endParaRPr lang="en-US" sz="1400" dirty="0"/>
          </a:p>
        </p:txBody>
      </p:sp>
      <p:sp>
        <p:nvSpPr>
          <p:cNvPr id="7" name="card-Corollary 1 — exact fit under contamination"/>
          <p:cNvSpPr/>
          <p:nvPr/>
        </p:nvSpPr>
        <p:spPr>
          <a:xfrm>
            <a:off x="548640" y="4617720"/>
            <a:ext cx="11109960" cy="1600200"/>
          </a:xfrm>
          <a:prstGeom prst="roundRect">
            <a:avLst>
              <a:gd name="adj" fmla="val 6857"/>
            </a:avLst>
          </a:prstGeom>
          <a:solidFill>
            <a:srgbClr val="E8F7F8"/>
          </a:solidFill>
          <a:ln w="9525">
            <a:solidFill>
              <a:srgbClr val="0FA3B1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4727448"/>
            <a:ext cx="1074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Corollary 1 — exact fit under contamination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120640"/>
            <a:ext cx="10744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majority lies exactly on a line, no contaminated point is on it, and |B| &lt; ⌈(n−1)/2⌉, the line is recovered wherever the contamination is: a group smaller than the half-sample cannot form a competing zero-width window. (Shared with LMS and the repeated median.)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Proposition 2 — Translation and positive-scale equivariance</a:t>
            </a:r>
            <a:endParaRPr lang="en-US" sz="3000" dirty="0"/>
          </a:p>
        </p:txBody>
      </p:sp>
      <p:pic>
        <p:nvPicPr>
          <p:cNvPr id="3" name="fig14_equivariance" descr="Original, rescaled data, and y→y+γ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7278" y="1188720"/>
            <a:ext cx="8706964" cy="2926080"/>
          </a:xfrm>
          <a:prstGeom prst="rect">
            <a:avLst/>
          </a:prstGeom>
        </p:spPr>
      </p:pic>
      <p:sp>
        <p:nvSpPr>
          <p:cNvPr id="4" name="eq-bg-equiv"/>
          <p:cNvSpPr/>
          <p:nvPr/>
        </p:nvSpPr>
        <p:spPr>
          <a:xfrm>
            <a:off x="548640" y="4297680"/>
            <a:ext cx="69494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pic>
        <p:nvPicPr>
          <p:cNvPr id="5" name="eq-equiv" descr="formula equi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698" y="4389120"/>
            <a:ext cx="5039324" cy="594360"/>
          </a:xfrm>
          <a:prstGeom prst="rect">
            <a:avLst/>
          </a:prstGeom>
        </p:spPr>
      </p:pic>
      <p:sp>
        <p:nvSpPr>
          <p:cNvPr id="6" name="card-Limitation"/>
          <p:cNvSpPr/>
          <p:nvPr/>
        </p:nvSpPr>
        <p:spPr>
          <a:xfrm>
            <a:off x="7680960" y="4206240"/>
            <a:ext cx="3977640" cy="2011680"/>
          </a:xfrm>
          <a:prstGeom prst="roundRect">
            <a:avLst>
              <a:gd name="adj" fmla="val 5455"/>
            </a:avLst>
          </a:prstGeom>
          <a:solidFill>
            <a:srgbClr val="FFF8F0"/>
          </a:solidFill>
          <a:ln w="9525">
            <a:solidFill>
              <a:srgbClr val="F28F3B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7863840" y="43159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863840" y="470916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fully affine equivariant: y → y + γx changes s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it is not a simple rotation of the standardized data.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212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</a:rPr>
              <a:t>Standardization removes translation and positive rescaling, so the same chords and shorths are selected.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Separation: lemma, local condition, outer condition</a:t>
            </a:r>
            <a:endParaRPr lang="en-US" sz="3000" dirty="0"/>
          </a:p>
        </p:txBody>
      </p:sp>
      <p:pic>
        <p:nvPicPr>
          <p:cNvPr id="3" name="fig5_local_directions" descr="Majority anchors vs contaminated anchors: local directions and width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54935"/>
            <a:ext cx="4754880" cy="3708050"/>
          </a:xfrm>
          <a:prstGeom prst="rect">
            <a:avLst/>
          </a:prstGeom>
        </p:spPr>
      </p:pic>
      <p:sp>
        <p:nvSpPr>
          <p:cNvPr id="4" name="card-Lemma 1"/>
          <p:cNvSpPr/>
          <p:nvPr/>
        </p:nvSpPr>
        <p:spPr>
          <a:xfrm>
            <a:off x="5577840" y="1280160"/>
            <a:ext cx="29260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760720" y="13898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 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1783080"/>
            <a:ext cx="2560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arc with ≥ h elements that touches B is strictly wider than A's shortest arc, then ASh(A ∪ B) = ASh(A).</a:t>
            </a:r>
            <a:endParaRPr lang="en-US" sz="1300" dirty="0"/>
          </a:p>
        </p:txBody>
      </p:sp>
      <p:sp>
        <p:nvSpPr>
          <p:cNvPr id="7" name="card-(L) Local"/>
          <p:cNvSpPr/>
          <p:nvPr/>
        </p:nvSpPr>
        <p:spPr>
          <a:xfrm>
            <a:off x="8686800" y="1280160"/>
            <a:ext cx="2971800" cy="2743200"/>
          </a:xfrm>
          <a:prstGeom prst="roundRect">
            <a:avLst>
              <a:gd name="adj" fmla="val 4000"/>
            </a:avLst>
          </a:prstGeom>
          <a:solidFill>
            <a:srgbClr val="E8F1FE"/>
          </a:solidFill>
          <a:ln w="9525">
            <a:solidFill>
              <a:srgbClr val="1F6FEB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869680" y="13898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(L) Local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869680" y="1783080"/>
            <a:ext cx="2606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majority anchor, majority–majority chords form a narrower half-window than any involving contamination.</a:t>
            </a:r>
            <a:endParaRPr lang="en-US" sz="1300" dirty="0"/>
          </a:p>
        </p:txBody>
      </p:sp>
      <p:sp>
        <p:nvSpPr>
          <p:cNvPr id="10" name="card-(O) Outer"/>
          <p:cNvSpPr/>
          <p:nvPr/>
        </p:nvSpPr>
        <p:spPr>
          <a:xfrm>
            <a:off x="5577840" y="4206240"/>
            <a:ext cx="2926080" cy="2011680"/>
          </a:xfrm>
          <a:prstGeom prst="roundRect">
            <a:avLst>
              <a:gd name="adj" fmla="val 5455"/>
            </a:avLst>
          </a:prstGeom>
          <a:solidFill>
            <a:srgbClr val="E8F1FE"/>
          </a:solidFill>
          <a:ln w="9525">
            <a:solidFill>
              <a:srgbClr val="1F6FEB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760720" y="43159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(O) Outer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470916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Majority-anchor directions form a narrower half-sample window than any involving contaminated anchors.</a:t>
            </a:r>
            <a:endParaRPr lang="en-US" sz="1300" dirty="0"/>
          </a:p>
        </p:txBody>
      </p:sp>
      <p:sp>
        <p:nvSpPr>
          <p:cNvPr id="13" name="card-Size"/>
          <p:cNvSpPr/>
          <p:nvPr/>
        </p:nvSpPr>
        <p:spPr>
          <a:xfrm>
            <a:off x="8686800" y="4206240"/>
            <a:ext cx="29718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869680" y="43159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869680" y="4709160"/>
            <a:ext cx="2606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|G| &gt; n/2 ⇒ |G|−1 ≥ h</a:t>
            </a:r>
            <a:pPr indent="0" marL="0">
              <a:spcAft>
                <a:spcPts val="400"/>
              </a:spcAft>
              <a:buNone/>
            </a:pPr>
            <a:r>
              <a:rPr lang="en-US" sz="13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|G| ≥ h</a:t>
            </a:r>
            <a:pPr indent="0" marL="0">
              <a:spcAft>
                <a:spcPts val="400"/>
              </a:spcAft>
              <a:buNone/>
            </a:pPr>
            <a:r>
              <a:rPr lang="en-US" sz="13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both stages can be built from majority points alone.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Theorem 1 — Zero influence of separated contamination</a:t>
            </a:r>
            <a:endParaRPr lang="en-US" sz="3000" dirty="0"/>
          </a:p>
        </p:txBody>
      </p:sp>
      <p:pic>
        <p:nvPicPr>
          <p:cNvPr id="4" name="p_filmstrip_move" descr="Cluster moved horizontally; RAShR line does not m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54771"/>
            <a:ext cx="11064240" cy="2319657"/>
          </a:xfrm>
          <a:prstGeom prst="rect">
            <a:avLst/>
          </a:prstGeom>
        </p:spPr>
      </p:pic>
      <p:sp>
        <p:nvSpPr>
          <p:cNvPr id="5" name="eq-bg-thm1"/>
          <p:cNvSpPr/>
          <p:nvPr/>
        </p:nvSpPr>
        <p:spPr>
          <a:xfrm>
            <a:off x="548640" y="4023360"/>
            <a:ext cx="51206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</p:spPr>
      </p:sp>
      <p:pic>
        <p:nvPicPr>
          <p:cNvPr id="6" name="eq-thm1" descr="formula thm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33359"/>
            <a:ext cx="4846320" cy="557242"/>
          </a:xfrm>
          <a:prstGeom prst="rect">
            <a:avLst/>
          </a:prstGeom>
        </p:spPr>
      </p:pic>
      <p:sp>
        <p:nvSpPr>
          <p:cNvPr id="7" name="card-What it says"/>
          <p:cNvSpPr/>
          <p:nvPr/>
        </p:nvSpPr>
        <p:spPr>
          <a:xfrm>
            <a:off x="5943600" y="3977640"/>
            <a:ext cx="57150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8" name="Text 3"/>
          <p:cNvSpPr txBox="1"/>
          <p:nvPr/>
        </p:nvSpPr>
        <p:spPr>
          <a:xfrm>
            <a:off x="6126480" y="408736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says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6126480" y="4480560"/>
            <a:ext cx="5349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(L), (O) and |G| &gt; n/2 hold, moving, adding or removing contaminated points does not change β-hat.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the standardization medians/MADs must stay unchanged — contamination can still affect Eq. (2).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49377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</a:rPr>
              <a:t>Paper: slope exactly 2.058 once the cluster is far enough (its sample). Ours differs (different sample); the constancy is the point.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Proposition 3 — Why coherent contamination can attract LMS</a:t>
            </a:r>
            <a:endParaRPr lang="en-US" sz="3000" dirty="0"/>
          </a:p>
        </p:txBody>
      </p:sp>
      <p:sp>
        <p:nvSpPr>
          <p:cNvPr id="3" name="card-Model"/>
          <p:cNvSpPr/>
          <p:nvPr/>
        </p:nvSpPr>
        <p:spPr>
          <a:xfrm>
            <a:off x="548640" y="1280160"/>
            <a:ext cx="54864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 Y) ~ (1−ε)P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ε δ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P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Y = α* + β*X + e, e ~ N(0, σ²). The point mass c is at vertical distance Δ &gt; 0 from the majority line.</a:t>
            </a:r>
            <a:endParaRPr lang="en-US" sz="1400" dirty="0"/>
          </a:p>
        </p:txBody>
      </p:sp>
      <p:sp>
        <p:nvSpPr>
          <p:cNvPr id="6" name="card-Statement"/>
          <p:cNvSpPr/>
          <p:nvPr/>
        </p:nvSpPr>
        <p:spPr>
          <a:xfrm>
            <a:off x="548640" y="3749040"/>
            <a:ext cx="5486400" cy="2468880"/>
          </a:xfrm>
          <a:prstGeom prst="roundRect">
            <a:avLst>
              <a:gd name="adj" fmla="val 4444"/>
            </a:avLst>
          </a:prstGeom>
          <a:solidFill>
            <a:srgbClr val="E8F1FE"/>
          </a:solidFill>
          <a:ln w="9525">
            <a:solidFill>
              <a:srgbClr val="1F6FEB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3858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51960"/>
            <a:ext cx="51206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ε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 ½ such that for ε ∈ (ε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½) every population LMS solution ℓ has |c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ℓ(c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)| ≤ W(ℓ) with W(ℓ) → 0 as ε ↑ ½. The majority line is not an LMS solution.</a:t>
            </a:r>
            <a:endParaRPr lang="en-US" sz="1400" dirty="0"/>
          </a:p>
        </p:txBody>
      </p:sp>
      <p:pic>
        <p:nvPicPr>
          <p:cNvPr id="9" name="fig10_lms_attraction" descr="Strips around the true line and a line through the clu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2078" y="1280160"/>
            <a:ext cx="5243804" cy="3291840"/>
          </a:xfrm>
          <a:prstGeom prst="rect">
            <a:avLst/>
          </a:prstGeom>
        </p:spPr>
      </p:pic>
      <p:sp>
        <p:nvSpPr>
          <p:cNvPr id="10" name="card-Scope"/>
          <p:cNvSpPr/>
          <p:nvPr/>
        </p:nvSpPr>
        <p:spPr>
          <a:xfrm>
            <a:off x="6309360" y="475488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FFF8F0"/>
          </a:solidFill>
          <a:ln w="9525">
            <a:solidFill>
              <a:srgbClr val="F28F3B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492240" y="486460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525780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for population LMS, asymptotically in ε ↑ ½. For LTS and MM only empirical evidence (Section 5), no theorem.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Remark — why “all chords near θ*” is too strong</a:t>
            </a:r>
            <a:endParaRPr lang="en-US" sz="3000" dirty="0"/>
          </a:p>
        </p:txBody>
      </p:sp>
      <p:pic>
        <p:nvPicPr>
          <p:cNvPr id="3" name="fig11_all_chords_remark" descr="Near-vertical chords and the distribution of chord direc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2360"/>
            <a:ext cx="7315200" cy="3195999"/>
          </a:xfrm>
          <a:prstGeom prst="rect">
            <a:avLst/>
          </a:prstGeom>
        </p:spPr>
      </p:pic>
      <p:sp>
        <p:nvSpPr>
          <p:cNvPr id="4" name="card-The problem"/>
          <p:cNvSpPr/>
          <p:nvPr/>
        </p:nvSpPr>
        <p:spPr>
          <a:xfrm>
            <a:off x="8138160" y="128016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321040" y="13898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1783080"/>
            <a:ext cx="31546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points with almost equal x and a little vertical noise give a chord with an almost arbitrary direction. Requiring every majority chord within δ &lt; π/8 of θ* is far too restrictive for noisy data.</a:t>
            </a:r>
            <a:endParaRPr lang="en-US" sz="1400" dirty="0"/>
          </a:p>
        </p:txBody>
      </p:sp>
      <p:sp>
        <p:nvSpPr>
          <p:cNvPr id="7" name="card-What RAShR needs instead"/>
          <p:cNvSpPr/>
          <p:nvPr/>
        </p:nvSpPr>
        <p:spPr>
          <a:xfrm>
            <a:off x="548640" y="4754880"/>
            <a:ext cx="11109960" cy="1371600"/>
          </a:xfrm>
          <a:prstGeom prst="roundRect">
            <a:avLst>
              <a:gd name="adj" fmla="val 8000"/>
            </a:avLst>
          </a:prstGeom>
          <a:solidFill>
            <a:srgbClr val="E8F7F8"/>
          </a:solidFill>
          <a:ln w="9525">
            <a:solidFill>
              <a:srgbClr val="0FA3B1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4864608"/>
            <a:ext cx="1074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RAShR needs instead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257800"/>
            <a:ext cx="1074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of a half-sample of chords — exactly what the shorth detects — not concentration of all of them.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evidence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657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RAShR helps — and where it does not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design (paper, Section 5)</a:t>
            </a:r>
            <a:endParaRPr lang="en-US" sz="3000" dirty="0"/>
          </a:p>
        </p:txBody>
      </p:sp>
      <p:sp>
        <p:nvSpPr>
          <p:cNvPr id="3" name="card-Data"/>
          <p:cNvSpPr/>
          <p:nvPr/>
        </p:nvSpPr>
        <p:spPr>
          <a:xfrm>
            <a:off x="548640" y="1280160"/>
            <a:ext cx="548640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512064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100, x ~ U[−5, 5], y = 1 + 2x + e, e ~ N(0, 1)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fraction f is replaced by: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compact leverage cluster at (15, −10), spread 0.3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competing line y = 5 − 1.25x + e</a:t>
            </a:r>
            <a:pPr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</a:t>
            </a:r>
            <a:pPr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 N(0, 0.5²)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funnel: majority sd 0.2 + 0.6|x| plus a line with sd 0.3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|β-hat − 2|; failure = |β-hat − 2| &gt; 0.5; 60 replications.</a:t>
            </a:r>
            <a:endParaRPr lang="en-US" sz="1500" dirty="0"/>
          </a:p>
        </p:txBody>
      </p:sp>
      <p:sp>
        <p:nvSpPr>
          <p:cNvPr id="6" name="card-Competitors"/>
          <p:cNvSpPr/>
          <p:nvPr/>
        </p:nvSpPr>
        <p:spPr>
          <a:xfrm>
            <a:off x="6263640" y="1280160"/>
            <a:ext cx="53949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46520" y="13898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78308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· LTS (10 best elemental fits + 20 C-steps) · MM (LTS start, MAD scale, Tukey bisquare) · RANSAC (2-point samples, MAD-based threshold, 1000 trials)</a:t>
            </a:r>
            <a:endParaRPr lang="en-US" sz="1400" dirty="0"/>
          </a:p>
        </p:txBody>
      </p:sp>
      <p:sp>
        <p:nvSpPr>
          <p:cNvPr id="9" name="card-Reproducibility note"/>
          <p:cNvSpPr/>
          <p:nvPr/>
        </p:nvSpPr>
        <p:spPr>
          <a:xfrm>
            <a:off x="6263640" y="393192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FFF8F0"/>
          </a:solidFill>
          <a:ln w="9525">
            <a:solidFill>
              <a:srgbClr val="F28F3B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4652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note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443484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curves in this deck come from our re-implementation with fixed seeds. Some constants (e.g. RANSAC's threshold) are not fully specified, so we compare patterns; the paper's own numbers are shown separately.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 first: RAShR is not universally better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Paper — median |β̂ − 2|</a:t>
            </a:r>
            <a:endParaRPr lang="en-US" sz="1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6751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280160"/>
                <a:gridCol w="128016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setting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RAShR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RANSAC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Clean data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0.033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6FEB"/>
                          </a:solidFill>
                        </a:rPr>
                        <a:t>0.024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6FEB"/>
                          </a:solidFill>
                        </a:rPr>
                        <a:t>0.022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20% vertical contamination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0.040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6FEB"/>
                          </a:solidFill>
                        </a:rPr>
                        <a:t>0.027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0.037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10% bad leverage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0.041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6FEB"/>
                          </a:solidFill>
                        </a:rPr>
                        <a:t>0.020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0.021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This project's re-implementation (100 reps)</a:t>
            </a:r>
            <a:endParaRPr lang="en-US" sz="160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70432"/>
                <a:gridCol w="1170432"/>
                <a:gridCol w="1170432"/>
                <a:gridCol w="1170432"/>
                <a:gridCol w="117043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setting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RAShR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LMS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LTS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RANSAC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Clean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0.043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0.054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0.051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6FEB"/>
                          </a:solidFill>
                        </a:rPr>
                        <a:t>0.022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0.022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20% vertical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0.034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0.052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0.056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6FEB"/>
                          </a:solidFill>
                        </a:rPr>
                        <a:t>0.023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0.056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10% bad leverage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0.042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0.054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0.067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0.022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6FEB"/>
                          </a:solidFill>
                        </a:rPr>
                        <a:t>0.022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20% competing line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0.045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0.070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0.060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6FEB"/>
                          </a:solidFill>
                        </a:rPr>
                        <a:t>0.032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213A"/>
                          </a:solidFill>
                        </a:rPr>
                        <a:t>0.061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card-Take-away"/>
          <p:cNvSpPr/>
          <p:nvPr/>
        </p:nvSpPr>
        <p:spPr>
          <a:xfrm>
            <a:off x="7589520" y="1280160"/>
            <a:ext cx="4069080" cy="2194560"/>
          </a:xfrm>
          <a:prstGeom prst="roundRect">
            <a:avLst>
              <a:gd name="adj" fmla="val 5000"/>
            </a:avLst>
          </a:prstGeom>
          <a:solidFill>
            <a:srgbClr val="E8F1FE"/>
          </a:solidFill>
          <a:ln w="9525">
            <a:solidFill>
              <a:srgbClr val="1F6FEB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772400" y="138988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Take-away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772400" y="1783080"/>
            <a:ext cx="3703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low contamination or in standard settings MM is generally the more efficient choice. RAShR's advantage needs a contaminating group that is both large and geometrically coherent.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rate vs contamination (our re-implementation)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3657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297680" y="1234440"/>
          <a:ext cx="3657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8046720" y="1234440"/>
          <a:ext cx="3657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 1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Failure = |β̂ − 2| &gt; 0.5. Below ≈30% the high-breakdown methods behave alike; between ≈35% and 46% they separate. Compact cluster at 46%: every method fails.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paper reports (Figure 2 text)</a:t>
            </a:r>
            <a:endParaRPr lang="en-US" sz="3000" dirty="0"/>
          </a:p>
        </p:txBody>
      </p:sp>
      <p:sp>
        <p:nvSpPr>
          <p:cNvPr id="3" name="card-(a) Compact leverage"/>
          <p:cNvSpPr/>
          <p:nvPr/>
        </p:nvSpPr>
        <p:spPr>
          <a:xfrm>
            <a:off x="548640" y="1280160"/>
            <a:ext cx="365760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Compact leverage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291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36%: RAShR 0 · LMS 2 · LTS/MM 23 · RANSAC 50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40%: RAShR 0 · LMS 58 · LTS/MM 100 · RANSAC 77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44%: RAShR succeeds in 40% of samples; every competitor fails in ≥ 97%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46%: all methods fail</a:t>
            </a:r>
            <a:endParaRPr lang="en-US" sz="1400" dirty="0"/>
          </a:p>
        </p:txBody>
      </p:sp>
      <p:sp>
        <p:nvSpPr>
          <p:cNvPr id="6" name="card-(b) Competing line"/>
          <p:cNvSpPr/>
          <p:nvPr/>
        </p:nvSpPr>
        <p:spPr>
          <a:xfrm>
            <a:off x="4343400" y="1280160"/>
            <a:ext cx="365760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26280" y="13898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Competing line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783080"/>
            <a:ext cx="3291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RAShR: no failures through 46%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46%: LMS 60 · LTS/MM 93 · RANSAC 12 · RAShR 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 remains a strong competitor on this geometry</a:t>
            </a:r>
            <a:endParaRPr lang="en-US" sz="1400" dirty="0"/>
          </a:p>
        </p:txBody>
      </p:sp>
      <p:sp>
        <p:nvSpPr>
          <p:cNvPr id="9" name="card-(c) Funnel + line"/>
          <p:cNvSpPr/>
          <p:nvPr/>
        </p:nvSpPr>
        <p:spPr>
          <a:xfrm>
            <a:off x="8138160" y="128016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21040" y="13898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Funnel + line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1783080"/>
            <a:ext cx="31546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40%: RAShR 0 · LMS 25 · LTS 62 · MM 60 · RANSAC 5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44%: RAShR 3 · LMS 83 · LTS 100 · MM 98 · RANSAC 40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46%: RAShR 8</a:t>
            </a:r>
            <a:endParaRPr lang="en-US" sz="1400" dirty="0"/>
          </a:p>
        </p:txBody>
      </p:sp>
      <p:sp>
        <p:nvSpPr>
          <p:cNvPr id="12" name="card-Not a general “near-50%” guarantee"/>
          <p:cNvSpPr/>
          <p:nvPr/>
        </p:nvSpPr>
        <p:spPr>
          <a:xfrm>
            <a:off x="548640" y="5029200"/>
            <a:ext cx="11109960" cy="1188720"/>
          </a:xfrm>
          <a:prstGeom prst="roundRect">
            <a:avLst>
              <a:gd name="adj" fmla="val 9231"/>
            </a:avLst>
          </a:prstGeom>
          <a:solidFill>
            <a:srgbClr val="FFF8F0"/>
          </a:solidFill>
          <a:ln w="9525">
            <a:solidFill>
              <a:srgbClr val="F28F3B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5138928"/>
            <a:ext cx="1074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general “near-50%” guarantee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532120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finite regime (≈ 35–46%) in which RAShR can stay near the majority line after several established methods have begun to follow the competing structure. All numbers: failure rate in 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 3 geometry: a moving cluster, and the 2.058 plateau</a:t>
            </a:r>
            <a:endParaRPr lang="en-US" sz="3000" dirty="0"/>
          </a:p>
        </p:txBody>
      </p:sp>
      <p:pic>
        <p:nvPicPr>
          <p:cNvPr id="3" name="fig9_cluster_move" descr="Slope as the 36-point cluster moves horizontal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590" y="1188720"/>
            <a:ext cx="6295781" cy="3931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589520" y="13716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2.058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589520" y="2194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</a:rPr>
              <a:t>RAShR slope once the cluster is far enough (paper's sample)</a:t>
            </a:r>
            <a:endParaRPr lang="en-US" sz="1400" dirty="0"/>
          </a:p>
        </p:txBody>
      </p:sp>
      <p:sp>
        <p:nvSpPr>
          <p:cNvPr id="6" name="card-Reading it"/>
          <p:cNvSpPr/>
          <p:nvPr/>
        </p:nvSpPr>
        <p:spPr>
          <a:xfrm>
            <a:off x="7589520" y="2926080"/>
            <a:ext cx="406908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0" y="30358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3429000"/>
            <a:ext cx="3703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RAShR's slope becomes exactly constant — consistent with Theorem 1. Residual-based fits (LTS, MM, RANSAC) jump to the cluster when it is closer; each has a different switching point.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2120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</a:rPr>
              <a:t>Our sample's plateau value differs from 2.058 (different majority sample); constancy is the point.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advantage disappears</a:t>
            </a:r>
            <a:endParaRPr lang="en-US" sz="3000" dirty="0"/>
          </a:p>
        </p:txBody>
      </p:sp>
      <p:pic>
        <p:nvPicPr>
          <p:cNvPr id="3" name="fig15_directions" descr="Failure rate by cluster dir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471" y="1188720"/>
            <a:ext cx="5868257" cy="3108960"/>
          </a:xfrm>
          <a:prstGeom prst="rect">
            <a:avLst/>
          </a:prstGeom>
        </p:spPr>
      </p:pic>
      <p:pic>
        <p:nvPicPr>
          <p:cNvPr id="4" name="fig16_spread" descr="Failure rate by cluster spre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27222"/>
            <a:ext cx="4709160" cy="2831957"/>
          </a:xfrm>
          <a:prstGeom prst="rect">
            <a:avLst/>
          </a:prstGeom>
        </p:spPr>
      </p:pic>
      <p:sp>
        <p:nvSpPr>
          <p:cNvPr id="5" name="card-Direction ≈ 30° / −150°"/>
          <p:cNvSpPr/>
          <p:nvPr/>
        </p:nvSpPr>
        <p:spPr>
          <a:xfrm>
            <a:off x="548640" y="4480560"/>
            <a:ext cx="5577840" cy="1737360"/>
          </a:xfrm>
          <a:prstGeom prst="roundRect">
            <a:avLst>
              <a:gd name="adj" fmla="val 6316"/>
            </a:avLst>
          </a:prstGeom>
          <a:solidFill>
            <a:srgbClr val="FFF8F0"/>
          </a:solidFill>
          <a:ln w="9525">
            <a:solidFill>
              <a:srgbClr val="F28F3B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731520" y="45902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≈ 30° / −150°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498348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on the extension of the majority line. −150° ≡ 30° on the projective circle, so chord directions overlap and separation is lost (paper: 78% and 75% failure at distance 30).</a:t>
            </a:r>
            <a:endParaRPr lang="en-US" sz="1300" dirty="0"/>
          </a:p>
        </p:txBody>
      </p:sp>
      <p:sp>
        <p:nvSpPr>
          <p:cNvPr id="8" name="card-Compactness"/>
          <p:cNvSpPr/>
          <p:nvPr/>
        </p:nvSpPr>
        <p:spPr>
          <a:xfrm>
            <a:off x="6263640" y="4480560"/>
            <a:ext cx="53949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213A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6446520" y="45902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Compactness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46520" y="498348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0.05: RAShR 0 failures, LMS 25%, LTS/MM ≈ 98% (paper). Spread 1 or 3: all fail ≤ 2% — the cluster is no longer a compact coherent group.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is RAShR useful?</a:t>
            </a:r>
            <a:endParaRPr lang="en-US" sz="4000" dirty="0"/>
          </a:p>
        </p:txBody>
      </p:sp>
      <p:sp>
        <p:nvSpPr>
          <p:cNvPr id="3" name="sum-card0"/>
          <p:cNvSpPr/>
          <p:nvPr/>
        </p:nvSpPr>
        <p:spPr>
          <a:xfrm>
            <a:off x="822960" y="182880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17406F"/>
          </a:solidFill>
          <a:ln w="25400">
            <a:solidFill>
              <a:srgbClr val="0FA3B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A3B1"/>
                </a:solidFill>
              </a:rPr>
              <a:t>Use it when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51460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≈ 35–46% of the data form a compact, coherent structure that is angularly separated from the majority line, and a deterministic estimator is wanted.</a:t>
            </a:r>
            <a:endParaRPr lang="en-US" sz="1600" dirty="0"/>
          </a:p>
        </p:txBody>
      </p:sp>
      <p:sp>
        <p:nvSpPr>
          <p:cNvPr id="6" name="sum-card1"/>
          <p:cNvSpPr/>
          <p:nvPr/>
        </p:nvSpPr>
        <p:spPr>
          <a:xfrm>
            <a:off x="4480560" y="182880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17406F"/>
          </a:solidFill>
          <a:ln w="25400">
            <a:solidFill>
              <a:srgbClr val="F28F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0916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8F3B"/>
                </a:solidFill>
              </a:rPr>
              <a:t>Prefer MM / RANSAC when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251460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Data are clean or lightly contaminated, contamination is diffuse or arbitrary, or efficiency matters most.</a:t>
            </a:r>
            <a:endParaRPr lang="en-US" sz="1600" dirty="0"/>
          </a:p>
        </p:txBody>
      </p:sp>
      <p:sp>
        <p:nvSpPr>
          <p:cNvPr id="9" name="sum-card2"/>
          <p:cNvSpPr/>
          <p:nvPr/>
        </p:nvSpPr>
        <p:spPr>
          <a:xfrm>
            <a:off x="8138160" y="182880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17406F"/>
          </a:solidFill>
          <a:ln w="25400">
            <a:solidFill>
              <a:srgbClr val="D149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6676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1495B"/>
                </a:solidFill>
              </a:rPr>
              <a:t>Known limits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51460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Cluster on the line's extension (≈ 30°, −150°); compact cluster at 46%: all fail; not fully affine equivariant; scales and intercept use all data.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FE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direction, not residual → concentrate twice → robust slope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7DE"/>
                </a:solidFill>
              </a:rPr>
              <a:t>Companions: Manim video · HTML deck · Beamer · notebooks · Streamlit lab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ShR">
  <a:themeElements>
    <a:clrScheme name="RAShR">
      <a:dk1>
        <a:srgbClr val="10213A"/>
      </a:dk1>
      <a:lt1>
        <a:srgbClr val="FFFFFF"/>
      </a:lt1>
      <a:dk2>
        <a:srgbClr val="17406F"/>
      </a:dk2>
      <a:lt2>
        <a:srgbClr val="F4F7FB"/>
      </a:lt2>
      <a:accent1>
        <a:srgbClr val="1F6FEB"/>
      </a:accent1>
      <a:accent2>
        <a:srgbClr val="0FA3B1"/>
      </a:accent2>
      <a:accent3>
        <a:srgbClr val="D1495B"/>
      </a:accent3>
      <a:accent4>
        <a:srgbClr val="F28F3B"/>
      </a:accent4>
      <a:accent5>
        <a:srgbClr val="7B4FB5"/>
      </a:accent5>
      <a:accent6>
        <a:srgbClr val="17A398"/>
      </a:accent6>
      <a:hlink>
        <a:srgbClr val="1F6FEB"/>
      </a:hlink>
      <a:folHlink>
        <a:srgbClr val="7B4FB5"/>
      </a:folHlink>
    </a:clrScheme>
    <a:fontScheme name="RASh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Repeated Angular Shorth Regression (RAShR)</dc:title>
  <dc:subject>PptxGenJS Presentation</dc:subject>
  <dc:creator>RAShR educational package</dc:creator>
  <cp:lastModifiedBy>RAShR educational package</cp:lastModifiedBy>
  <cp:revision>1</cp:revision>
  <dcterms:created xsi:type="dcterms:W3CDTF">2026-10-06T18:41:11Z</dcterms:created>
  <dcterms:modified xsi:type="dcterms:W3CDTF">2026-10-06T18:41:11Z</dcterms:modified>
</cp:coreProperties>
</file>